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1"/>
  </p:sldMasterIdLst>
  <p:notesMasterIdLst>
    <p:notesMasterId r:id="rId23"/>
  </p:notesMasterIdLst>
  <p:sldIdLst>
    <p:sldId id="2214" r:id="rId2"/>
    <p:sldId id="2231" r:id="rId3"/>
    <p:sldId id="2232" r:id="rId4"/>
    <p:sldId id="2233" r:id="rId5"/>
    <p:sldId id="2217" r:id="rId6"/>
    <p:sldId id="2142" r:id="rId7"/>
    <p:sldId id="2117" r:id="rId8"/>
    <p:sldId id="2234" r:id="rId9"/>
    <p:sldId id="2235" r:id="rId10"/>
    <p:sldId id="2236" r:id="rId11"/>
    <p:sldId id="2227" r:id="rId12"/>
    <p:sldId id="2228" r:id="rId13"/>
    <p:sldId id="2229" r:id="rId14"/>
    <p:sldId id="2240" r:id="rId15"/>
    <p:sldId id="327" r:id="rId16"/>
    <p:sldId id="2241" r:id="rId17"/>
    <p:sldId id="2242" r:id="rId18"/>
    <p:sldId id="2237" r:id="rId19"/>
    <p:sldId id="2238" r:id="rId20"/>
    <p:sldId id="2239" r:id="rId21"/>
    <p:sldId id="2070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347" userDrawn="1">
          <p15:clr>
            <a:srgbClr val="A4A3A4"/>
          </p15:clr>
        </p15:guide>
        <p15:guide id="5" pos="7378" userDrawn="1">
          <p15:clr>
            <a:srgbClr val="A4A3A4"/>
          </p15:clr>
        </p15:guide>
        <p15:guide id="18" orient="horz" pos="1162" userDrawn="1">
          <p15:clr>
            <a:srgbClr val="A4A3A4"/>
          </p15:clr>
        </p15:guide>
        <p15:guide id="21" orient="horz" pos="686" userDrawn="1">
          <p15:clr>
            <a:srgbClr val="A4A3A4"/>
          </p15:clr>
        </p15:guide>
        <p15:guide id="23" userDrawn="1">
          <p15:clr>
            <a:srgbClr val="A4A3A4"/>
          </p15:clr>
        </p15:guide>
        <p15:guide id="24" orient="horz" pos="3974" userDrawn="1">
          <p15:clr>
            <a:srgbClr val="A4A3A4"/>
          </p15:clr>
        </p15:guide>
        <p15:guide id="25" orient="horz" pos="1774" userDrawn="1">
          <p15:clr>
            <a:srgbClr val="A4A3A4"/>
          </p15:clr>
        </p15:guide>
        <p15:guide id="26" pos="386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2" clrIdx="0"/>
  <p:cmAuthor id="2" name="MSI-PC" initials="M" lastIdx="1" clrIdx="1">
    <p:extLst>
      <p:ext uri="{19B8F6BF-5375-455C-9EA6-DF929625EA0E}">
        <p15:presenceInfo xmlns:p15="http://schemas.microsoft.com/office/powerpoint/2012/main" userId="40f45f1a235c67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62C2"/>
    <a:srgbClr val="1F3764"/>
    <a:srgbClr val="2289BC"/>
    <a:srgbClr val="1E9CCB"/>
    <a:srgbClr val="FFC3C3"/>
    <a:srgbClr val="52BCD2"/>
    <a:srgbClr val="1F9CCB"/>
    <a:srgbClr val="2097C4"/>
    <a:srgbClr val="7F7F7F"/>
    <a:srgbClr val="4D38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03" autoAdjust="0"/>
    <p:restoredTop sz="64286" autoAdjust="0"/>
  </p:normalViewPr>
  <p:slideViewPr>
    <p:cSldViewPr snapToGrid="0" showGuides="1">
      <p:cViewPr varScale="1">
        <p:scale>
          <a:sx n="80" d="100"/>
          <a:sy n="80" d="100"/>
        </p:scale>
        <p:origin x="2264" y="176"/>
      </p:cViewPr>
      <p:guideLst>
        <p:guide pos="347"/>
        <p:guide pos="7378"/>
        <p:guide orient="horz" pos="1162"/>
        <p:guide orient="horz" pos="686"/>
        <p:guide/>
        <p:guide orient="horz" pos="3974"/>
        <p:guide orient="horz" pos="1774"/>
        <p:guide pos="3863"/>
      </p:guideLst>
    </p:cSldViewPr>
  </p:slideViewPr>
  <p:notesTextViewPr>
    <p:cViewPr>
      <p:scale>
        <a:sx n="140" d="100"/>
        <a:sy n="14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A38721-CAEF-476E-9226-F369583D540F}" type="datetimeFigureOut">
              <a:rPr lang="zh-CN" altLang="en-US" smtClean="0"/>
              <a:t>2025/7/3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3FC53C-9DE1-4755-9631-3AC753E779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05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3FC53C-9DE1-4755-9631-3AC753E779D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1984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3FC53C-9DE1-4755-9631-3AC753E779D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7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3FC53C-9DE1-4755-9631-3AC753E779D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448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3FC53C-9DE1-4755-9631-3AC753E779D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21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3FC53C-9DE1-4755-9631-3AC753E779D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622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3FC53C-9DE1-4755-9631-3AC753E779D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2241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3FC53C-9DE1-4755-9631-3AC753E779D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9950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3FC53C-9DE1-4755-9631-3AC753E779D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077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b="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b="0" dirty="0"/>
                  <a:t>There is a large family of discrete choice models.     </a:t>
                </a:r>
                <a:r>
                  <a:rPr lang="en-US" sz="12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value of taste</a:t>
                </a:r>
                <a:r>
                  <a:rPr lang="en-US" sz="1200" baseline="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parameters (theta) a</a:t>
                </a:r>
                <a:r>
                  <a:rPr lang="en-US" sz="12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nd the distribution of random</a:t>
                </a:r>
                <a:r>
                  <a:rPr lang="en-US" sz="1200" baseline="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disturbance (epsilon) </a:t>
                </a:r>
                <a:r>
                  <a:rPr lang="en-US" altLang="zh-CN" sz="12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determine how they calculate</a:t>
                </a:r>
                <a:r>
                  <a:rPr lang="en-US" altLang="zh-CN" sz="1200" baseline="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the probability.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200" baseline="0" dirty="0">
                  <a:solidFill>
                    <a:srgbClr val="2A2B2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Assuming </a:t>
                </a:r>
                <a:r>
                  <a:rPr lang="en-US" sz="1200" i="0">
                    <a:solidFill>
                      <a:srgbClr val="2A2B2D"/>
                    </a:solidFill>
                    <a:latin typeface="Cambria Math" panose="02040503050406030204" pitchFamily="18" charset="0"/>
                    <a:sym typeface="Symbol" pitchFamily="2" charset="2"/>
                  </a:rPr>
                  <a:t>_</a:t>
                </a:r>
                <a:r>
                  <a:rPr lang="en-US" sz="1200" i="0">
                    <a:solidFill>
                      <a:srgbClr val="2A2B2D"/>
                    </a:solidFill>
                    <a:latin typeface="Cambria Math" panose="02040503050406030204" pitchFamily="18" charset="0"/>
                  </a:rPr>
                  <a:t>𝑖𝑗</a:t>
                </a:r>
                <a:r>
                  <a:rPr lang="en-US" altLang="zh-CN" sz="12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be </a:t>
                </a:r>
                <a:r>
                  <a:rPr lang="en-US" altLang="zh-CN" sz="1200" b="1" dirty="0">
                    <a:solidFill>
                      <a:srgbClr val="C65A1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Gumbel distributed </a:t>
                </a:r>
                <a:r>
                  <a:rPr lang="en-US" altLang="zh-CN" sz="12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results in logit models.</a:t>
                </a:r>
                <a:r>
                  <a:rPr lang="en-US" altLang="zh-CN" sz="1200" baseline="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And in logit models, </a:t>
                </a:r>
                <a:r>
                  <a:rPr lang="en-US" altLang="zh-CN" sz="12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assuming </a:t>
                </a:r>
                <a:r>
                  <a:rPr lang="en-US" altLang="zh-CN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altLang="zh-CN" sz="12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be </a:t>
                </a:r>
                <a:r>
                  <a:rPr lang="en-US" altLang="zh-CN" sz="1200" b="1" dirty="0">
                    <a:solidFill>
                      <a:srgbClr val="C65A1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fixed values </a:t>
                </a:r>
                <a:r>
                  <a:rPr lang="en-US" altLang="zh-CN" sz="12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results in MNL model. Assuming </a:t>
                </a:r>
                <a:r>
                  <a:rPr lang="en-US" altLang="zh-CN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altLang="zh-CN" sz="12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be a </a:t>
                </a:r>
                <a:r>
                  <a:rPr lang="en-US" altLang="zh-CN" sz="1200" b="1" dirty="0">
                    <a:solidFill>
                      <a:srgbClr val="C65A1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parametric distribution </a:t>
                </a:r>
                <a:r>
                  <a:rPr lang="en-US" altLang="zh-CN" sz="12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(e.g., normal, uniform, triangular) results in MXL model </a:t>
                </a:r>
                <a:endParaRPr lang="zh-CN" altLang="en-US" sz="1200" i="1" dirty="0">
                  <a:solidFill>
                    <a:srgbClr val="2A2B2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b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b="0" dirty="0"/>
                  <a:t>The figure on the left shows how MNL makes prediction.        In this case, a traveler is to choose one of the three trip modes including car, train, and subway.     Each mode have different variables and    assume that their parameters </a:t>
                </a:r>
                <a:r>
                  <a:rPr kumimoji="1" lang="en-US" altLang="zh-CN" b="0" dirty="0" err="1"/>
                  <a:t>thets</a:t>
                </a:r>
                <a:r>
                  <a:rPr kumimoji="1" lang="en-US" altLang="zh-CN" b="0" dirty="0"/>
                  <a:t> have been estimated.     Then the utility for choosing subway is calculated like this (</a:t>
                </a:r>
                <a:r>
                  <a:rPr kumimoji="1" lang="en-US" altLang="zh-CN" b="0" dirty="0" err="1"/>
                  <a:t>V_metro</a:t>
                </a:r>
                <a:r>
                  <a:rPr kumimoji="1" lang="en-US" altLang="zh-CN" b="0" dirty="0"/>
                  <a:t>).           And to calculate the probability (</a:t>
                </a:r>
                <a:r>
                  <a:rPr kumimoji="1" lang="en-US" altLang="zh-CN" b="0" dirty="0" err="1"/>
                  <a:t>P_metro</a:t>
                </a:r>
                <a:r>
                  <a:rPr kumimoji="1" lang="en-US" altLang="zh-CN" b="0" dirty="0"/>
                  <a:t>),         we take the exponential of this utility,   and </a:t>
                </a:r>
                <a:r>
                  <a:rPr lang="en-US" dirty="0"/>
                  <a:t>normalize it across all alternatives</a:t>
                </a:r>
                <a:endParaRPr kumimoji="1" lang="en-US" altLang="zh-CN" b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b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b="0" dirty="0"/>
                  <a:t>For MXL, we can use Monte Carlo Simulation to sample these parameters from a distribution,   and make prediction in a similar way. 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b="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3FC53C-9DE1-4755-9631-3AC753E779D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778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3FC53C-9DE1-4755-9631-3AC753E779D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53153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3FC53C-9DE1-4755-9631-3AC753E779D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1810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3FC53C-9DE1-4755-9631-3AC753E779D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0113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3FC53C-9DE1-4755-9631-3AC753E779D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645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 dirty="0">
              <a:solidFill>
                <a:srgbClr val="232333"/>
              </a:solidFill>
              <a:effectLst/>
              <a:latin typeface="Almaden San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3FC53C-9DE1-4755-9631-3AC753E779D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0107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D3A24-600C-48AD-94B2-E2424AEDF04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5450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D3A24-600C-48AD-94B2-E2424AEDF04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0143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D3A24-600C-48AD-94B2-E2424AEDF04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0038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D3A24-600C-48AD-94B2-E2424AEDF04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4227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D3A24-600C-48AD-94B2-E2424AEDF04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3711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3FC53C-9DE1-4755-9631-3AC753E779DE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2450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3FC53C-9DE1-4755-9631-3AC753E779DE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822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5732BB-E087-4A17-AFDE-850282AD8D7F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2025/7/3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7F85-2830-4F23-82D0-952F31529E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5047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5732BB-E087-4A17-AFDE-850282AD8D7F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2025/7/3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7F85-2830-4F23-82D0-952F31529E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4843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5732BB-E087-4A17-AFDE-850282AD8D7F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2025/7/3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7F85-2830-4F23-82D0-952F31529E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7163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5732BB-E087-4A17-AFDE-850282AD8D7F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2025/7/3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7F85-2830-4F23-82D0-952F31529E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0124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5732BB-E087-4A17-AFDE-850282AD8D7F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2025/7/3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7F85-2830-4F23-82D0-952F31529E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2550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5732BB-E087-4A17-AFDE-850282AD8D7F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2025/7/3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7F85-2830-4F23-82D0-952F31529E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7836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5732BB-E087-4A17-AFDE-850282AD8D7F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2025/7/3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7F85-2830-4F23-82D0-952F31529E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8313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5732BB-E087-4A17-AFDE-850282AD8D7F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2025/7/3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7F85-2830-4F23-82D0-952F31529E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BE89D64-B416-481A-A7C8-8CA396FDE3E9}"/>
              </a:ext>
            </a:extLst>
          </p:cNvPr>
          <p:cNvCxnSpPr/>
          <p:nvPr userDrawn="1"/>
        </p:nvCxnSpPr>
        <p:spPr>
          <a:xfrm>
            <a:off x="5215927" y="813394"/>
            <a:ext cx="1760147" cy="0"/>
          </a:xfrm>
          <a:prstGeom prst="line">
            <a:avLst/>
          </a:prstGeom>
          <a:ln w="9525">
            <a:solidFill>
              <a:srgbClr val="E400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9192416-9443-4012-B20F-AD0D6665157A}"/>
              </a:ext>
            </a:extLst>
          </p:cNvPr>
          <p:cNvCxnSpPr/>
          <p:nvPr userDrawn="1"/>
        </p:nvCxnSpPr>
        <p:spPr>
          <a:xfrm>
            <a:off x="5215927" y="313335"/>
            <a:ext cx="1760147" cy="0"/>
          </a:xfrm>
          <a:prstGeom prst="line">
            <a:avLst/>
          </a:prstGeom>
          <a:ln w="38100">
            <a:solidFill>
              <a:srgbClr val="E400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96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5732BB-E087-4A17-AFDE-850282AD8D7F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2025/7/3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7F85-2830-4F23-82D0-952F31529E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9643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5732BB-E087-4A17-AFDE-850282AD8D7F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2025/7/3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7F85-2830-4F23-82D0-952F31529E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8726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5732BB-E087-4A17-AFDE-850282AD8D7F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2025/7/3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7F85-2830-4F23-82D0-952F31529E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8256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5732BB-E087-4A17-AFDE-850282AD8D7F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2025/7/3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7F85-2830-4F23-82D0-952F31529E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1606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5732BB-E087-4A17-AFDE-850282AD8D7F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2025/7/3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7F85-2830-4F23-82D0-952F31529E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99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</p:sldLayoutIdLst>
  <mc:AlternateContent xmlns:mc="http://schemas.openxmlformats.org/markup-compatibility/2006" xmlns:p14="http://schemas.microsoft.com/office/powerpoint/2010/main">
    <mc:Choice Requires="p14">
      <p:transition spd="slow" p14:dur="1600" advClick="0" advTm="3000">
        <p:blinds dir="vert"/>
      </p:transition>
    </mc:Choice>
    <mc:Fallback xmlns="">
      <p:transition spd="slow" advClick="0" advTm="3000">
        <p:blinds dir="vert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youtube.com/watch?v=_6MnWjpd8l8" TargetMode="Externa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apers.ssrn.com/sol3/papers.cfm?abstract_id=5200375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9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emf"/><Relationship Id="rId5" Type="http://schemas.openxmlformats.org/officeDocument/2006/relationships/image" Target="../media/image31.png"/><Relationship Id="rId10" Type="http://schemas.openxmlformats.org/officeDocument/2006/relationships/image" Target="../media/image35.png"/><Relationship Id="rId4" Type="http://schemas.openxmlformats.org/officeDocument/2006/relationships/image" Target="../media/image30.pn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90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emf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2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xr2006/C2SMART_Learning_Hub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24">
            <a:extLst>
              <a:ext uri="{FF2B5EF4-FFF2-40B4-BE49-F238E27FC236}">
                <a16:creationId xmlns:a16="http://schemas.microsoft.com/office/drawing/2014/main" id="{D74E67F1-817D-10F9-4F28-C878C6C6A1C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970" t="19425" r="18442" b="26309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713BC10-89E3-D343-B121-E49D30527C9A}"/>
              </a:ext>
            </a:extLst>
          </p:cNvPr>
          <p:cNvSpPr/>
          <p:nvPr/>
        </p:nvSpPr>
        <p:spPr>
          <a:xfrm>
            <a:off x="0" y="0"/>
            <a:ext cx="12211888" cy="6858000"/>
          </a:xfrm>
          <a:prstGeom prst="rect">
            <a:avLst/>
          </a:prstGeom>
          <a:solidFill>
            <a:schemeClr val="accent5">
              <a:lumMod val="50000"/>
              <a:alpha val="7727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C2D70E-CF9B-9A11-8692-B4AE9D11092C}"/>
              </a:ext>
            </a:extLst>
          </p:cNvPr>
          <p:cNvSpPr/>
          <p:nvPr/>
        </p:nvSpPr>
        <p:spPr>
          <a:xfrm rot="16200000">
            <a:off x="6076657" y="-3569724"/>
            <a:ext cx="59350" cy="109418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95311D-C626-2A4B-9784-3DAFCF84624D}"/>
              </a:ext>
            </a:extLst>
          </p:cNvPr>
          <p:cNvSpPr txBox="1"/>
          <p:nvPr/>
        </p:nvSpPr>
        <p:spPr>
          <a:xfrm>
            <a:off x="352562" y="2201786"/>
            <a:ext cx="11557805" cy="107721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effectLst>
                  <a:glow rad="63500">
                    <a:schemeClr val="accent1">
                      <a:lumMod val="50000"/>
                      <a:alpha val="40000"/>
                    </a:schemeClr>
                  </a:glow>
                </a:effectLst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Discrete Choice Modeling for Travel Behavior Analysis: From Multinominal Logit to More Advanced Forms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0FFB0A6B-3F65-2744-88EA-0D9F1DBB9D6C}"/>
              </a:ext>
            </a:extLst>
          </p:cNvPr>
          <p:cNvSpPr txBox="1"/>
          <p:nvPr/>
        </p:nvSpPr>
        <p:spPr>
          <a:xfrm>
            <a:off x="500519" y="3802356"/>
            <a:ext cx="11188740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>
                <a:solidFill>
                  <a:schemeClr val="bg1"/>
                </a:solidFill>
                <a:effectLst>
                  <a:glow rad="63500">
                    <a:schemeClr val="accent1">
                      <a:lumMod val="50000"/>
                      <a:alpha val="40000"/>
                    </a:schemeClr>
                  </a:glow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Xiyuan Ren</a:t>
            </a:r>
            <a:r>
              <a:rPr kumimoji="1" lang="en-US" altLang="zh-CN" sz="2000" dirty="0">
                <a:solidFill>
                  <a:schemeClr val="bg1"/>
                </a:solidFill>
                <a:effectLst>
                  <a:glow rad="63500">
                    <a:schemeClr val="accent1">
                      <a:lumMod val="50000"/>
                      <a:alpha val="40000"/>
                    </a:schemeClr>
                  </a:glow>
                </a:effectLst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, Department of Civil and Urban Engineering, New York University</a:t>
            </a:r>
          </a:p>
          <a:p>
            <a:pPr algn="ctr"/>
            <a:r>
              <a:rPr kumimoji="1" lang="en-US" altLang="zh-CN" sz="2000" dirty="0">
                <a:solidFill>
                  <a:schemeClr val="bg1"/>
                </a:solidFill>
                <a:effectLst>
                  <a:glow rad="63500">
                    <a:schemeClr val="accent1">
                      <a:lumMod val="50000"/>
                      <a:alpha val="40000"/>
                    </a:schemeClr>
                  </a:glow>
                </a:effectLst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April 11, 2025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F6DB0A-945A-1B84-4B44-A558A44575B8}"/>
              </a:ext>
            </a:extLst>
          </p:cNvPr>
          <p:cNvSpPr txBox="1"/>
          <p:nvPr/>
        </p:nvSpPr>
        <p:spPr>
          <a:xfrm>
            <a:off x="12685222" y="5486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42BFEA-E7D3-3C54-3A53-0D0FE9978EA7}"/>
              </a:ext>
            </a:extLst>
          </p:cNvPr>
          <p:cNvSpPr/>
          <p:nvPr/>
        </p:nvSpPr>
        <p:spPr>
          <a:xfrm rot="16200000">
            <a:off x="6047338" y="-797641"/>
            <a:ext cx="117988" cy="109418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A black and purple logo&#10;&#10;Description automatically generated">
            <a:extLst>
              <a:ext uri="{FF2B5EF4-FFF2-40B4-BE49-F238E27FC236}">
                <a16:creationId xmlns:a16="http://schemas.microsoft.com/office/drawing/2014/main" id="{97FFD775-7AE6-56D8-B5A9-663400C60A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28" y="5471811"/>
            <a:ext cx="3938390" cy="610766"/>
          </a:xfrm>
          <a:prstGeom prst="rect">
            <a:avLst/>
          </a:prstGeom>
        </p:spPr>
      </p:pic>
      <p:pic>
        <p:nvPicPr>
          <p:cNvPr id="7" name="Picture 6" descr="Qr code&#10;&#10;Description automatically generated">
            <a:extLst>
              <a:ext uri="{FF2B5EF4-FFF2-40B4-BE49-F238E27FC236}">
                <a16:creationId xmlns:a16="http://schemas.microsoft.com/office/drawing/2014/main" id="{A13D3D3D-7EA2-FF23-D705-FAF6C342AE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5203" y="5350326"/>
            <a:ext cx="914854" cy="838552"/>
          </a:xfrm>
          <a:prstGeom prst="rect">
            <a:avLst/>
          </a:prstGeom>
        </p:spPr>
      </p:pic>
      <p:pic>
        <p:nvPicPr>
          <p:cNvPr id="8" name="Picture 2" descr="C2SMARTER Home">
            <a:extLst>
              <a:ext uri="{FF2B5EF4-FFF2-40B4-BE49-F238E27FC236}">
                <a16:creationId xmlns:a16="http://schemas.microsoft.com/office/drawing/2014/main" id="{CB70C658-ECFB-382B-70A1-441727E5A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859" y="5467277"/>
            <a:ext cx="2552060" cy="610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FDE9019-9769-8006-A0E5-319E520974D2}"/>
              </a:ext>
            </a:extLst>
          </p:cNvPr>
          <p:cNvSpPr txBox="1"/>
          <p:nvPr/>
        </p:nvSpPr>
        <p:spPr>
          <a:xfrm>
            <a:off x="2912014" y="3392637"/>
            <a:ext cx="6438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C2SMARTER Student Learning Hub Series</a:t>
            </a:r>
            <a:endParaRPr lang="zh-CN" altLang="en-US" sz="20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30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514E20-478F-D6E4-45D1-896849831675}"/>
              </a:ext>
            </a:extLst>
          </p:cNvPr>
          <p:cNvSpPr/>
          <p:nvPr/>
        </p:nvSpPr>
        <p:spPr>
          <a:xfrm>
            <a:off x="-1" y="0"/>
            <a:ext cx="12204338" cy="113929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Shape;88;p17">
            <a:extLst>
              <a:ext uri="{FF2B5EF4-FFF2-40B4-BE49-F238E27FC236}">
                <a16:creationId xmlns:a16="http://schemas.microsoft.com/office/drawing/2014/main" id="{0F228211-6D30-37C9-4F27-5318C267CFA9}"/>
              </a:ext>
            </a:extLst>
          </p:cNvPr>
          <p:cNvSpPr txBox="1">
            <a:spLocks/>
          </p:cNvSpPr>
          <p:nvPr/>
        </p:nvSpPr>
        <p:spPr>
          <a:xfrm>
            <a:off x="392739" y="264549"/>
            <a:ext cx="11197934" cy="80567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Discrete Choice Models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A7116F1-54C2-A0D7-02C8-126D1CE6AC60}"/>
              </a:ext>
            </a:extLst>
          </p:cNvPr>
          <p:cNvSpPr txBox="1"/>
          <p:nvPr/>
        </p:nvSpPr>
        <p:spPr>
          <a:xfrm>
            <a:off x="11499540" y="6491235"/>
            <a:ext cx="599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BE56772-894B-D841-B1F7-F7D900972C7A}" type="slidenum">
              <a:rPr kumimoji="1" lang="zh-CN" altLang="en-US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2</a:t>
            </a:fld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Content Placeholder 7" descr="A diagram of a triangle&#10;&#10;Description automatically generated">
            <a:extLst>
              <a:ext uri="{FF2B5EF4-FFF2-40B4-BE49-F238E27FC236}">
                <a16:creationId xmlns:a16="http://schemas.microsoft.com/office/drawing/2014/main" id="{AA07639C-3524-0C0D-106C-3AECAFA241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81208" y="1635628"/>
            <a:ext cx="702958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A64804-7E73-A3AB-4D2F-191F5EC6E516}"/>
              </a:ext>
            </a:extLst>
          </p:cNvPr>
          <p:cNvSpPr txBox="1"/>
          <p:nvPr/>
        </p:nvSpPr>
        <p:spPr>
          <a:xfrm>
            <a:off x="2971800" y="6121903"/>
            <a:ext cx="6094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5"/>
              </a:rPr>
              <a:t>https://www.youtube.com/watch?v=_6MnWjpd8l8</a:t>
            </a:r>
            <a:r>
              <a:rPr lang="en-US" dirty="0"/>
              <a:t> 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7D3C67EB-9376-6E91-B750-90099D47554D}"/>
              </a:ext>
            </a:extLst>
          </p:cNvPr>
          <p:cNvSpPr/>
          <p:nvPr/>
        </p:nvSpPr>
        <p:spPr>
          <a:xfrm>
            <a:off x="4724400" y="2307194"/>
            <a:ext cx="2608967" cy="2315605"/>
          </a:xfrm>
          <a:custGeom>
            <a:avLst/>
            <a:gdLst>
              <a:gd name="connsiteX0" fmla="*/ 1415143 w 2648857"/>
              <a:gd name="connsiteY0" fmla="*/ 0 h 2373086"/>
              <a:gd name="connsiteX1" fmla="*/ 2648857 w 2648857"/>
              <a:gd name="connsiteY1" fmla="*/ 2278743 h 2373086"/>
              <a:gd name="connsiteX2" fmla="*/ 0 w 2648857"/>
              <a:gd name="connsiteY2" fmla="*/ 2373086 h 2373086"/>
              <a:gd name="connsiteX3" fmla="*/ 1415143 w 2648857"/>
              <a:gd name="connsiteY3" fmla="*/ 0 h 2373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48857" h="2373086">
                <a:moveTo>
                  <a:pt x="1415143" y="0"/>
                </a:moveTo>
                <a:lnTo>
                  <a:pt x="2648857" y="2278743"/>
                </a:lnTo>
                <a:lnTo>
                  <a:pt x="0" y="2373086"/>
                </a:lnTo>
                <a:lnTo>
                  <a:pt x="1415143" y="0"/>
                </a:lnTo>
                <a:close/>
              </a:path>
            </a:pathLst>
          </a:cu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959B760C-A633-3C04-D619-E7553BDDDBAA}"/>
              </a:ext>
            </a:extLst>
          </p:cNvPr>
          <p:cNvSpPr/>
          <p:nvPr/>
        </p:nvSpPr>
        <p:spPr>
          <a:xfrm>
            <a:off x="5786120" y="2885440"/>
            <a:ext cx="955040" cy="1270000"/>
          </a:xfrm>
          <a:custGeom>
            <a:avLst/>
            <a:gdLst>
              <a:gd name="connsiteX0" fmla="*/ 320040 w 955040"/>
              <a:gd name="connsiteY0" fmla="*/ 0 h 1270000"/>
              <a:gd name="connsiteX1" fmla="*/ 955040 w 955040"/>
              <a:gd name="connsiteY1" fmla="*/ 1270000 h 1270000"/>
              <a:gd name="connsiteX2" fmla="*/ 0 w 955040"/>
              <a:gd name="connsiteY2" fmla="*/ 1082040 h 1270000"/>
              <a:gd name="connsiteX3" fmla="*/ 320040 w 955040"/>
              <a:gd name="connsiteY3" fmla="*/ 0 h 127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5040" h="1270000">
                <a:moveTo>
                  <a:pt x="320040" y="0"/>
                </a:moveTo>
                <a:lnTo>
                  <a:pt x="955040" y="1270000"/>
                </a:lnTo>
                <a:lnTo>
                  <a:pt x="0" y="1082040"/>
                </a:lnTo>
                <a:lnTo>
                  <a:pt x="320040" y="0"/>
                </a:lnTo>
                <a:close/>
              </a:path>
            </a:pathLst>
          </a:cu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06D578-E2B0-8AC6-D187-4F5A4BB5557B}"/>
              </a:ext>
            </a:extLst>
          </p:cNvPr>
          <p:cNvSpPr txBox="1"/>
          <p:nvPr/>
        </p:nvSpPr>
        <p:spPr>
          <a:xfrm>
            <a:off x="8111639" y="2676262"/>
            <a:ext cx="2998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C00000"/>
                </a:solidFill>
              </a:rPr>
              <a:t>Basic DCMs (e.g., MNL, NL)</a:t>
            </a:r>
            <a:endParaRPr kumimoji="1"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E4D899-720A-5A31-E3AB-799B91176830}"/>
              </a:ext>
            </a:extLst>
          </p:cNvPr>
          <p:cNvSpPr txBox="1"/>
          <p:nvPr/>
        </p:nvSpPr>
        <p:spPr>
          <a:xfrm>
            <a:off x="8926286" y="28854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7CACBB-30CB-30B5-C5D7-8C08139B8047}"/>
              </a:ext>
            </a:extLst>
          </p:cNvPr>
          <p:cNvSpPr txBox="1"/>
          <p:nvPr/>
        </p:nvSpPr>
        <p:spPr>
          <a:xfrm>
            <a:off x="8111638" y="2972501"/>
            <a:ext cx="3987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C00000"/>
                </a:solidFill>
              </a:rPr>
              <a:t>Advanced DCMs (e.g., LC, MXL, dynamic MXL)</a:t>
            </a:r>
            <a:endParaRPr kumimoji="1"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A82D7E-75C7-0E78-27DB-A55A0DF07050}"/>
              </a:ext>
            </a:extLst>
          </p:cNvPr>
          <p:cNvSpPr txBox="1"/>
          <p:nvPr/>
        </p:nvSpPr>
        <p:spPr>
          <a:xfrm>
            <a:off x="8111639" y="3295453"/>
            <a:ext cx="3758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C00000"/>
                </a:solidFill>
              </a:rPr>
              <a:t>Data-driven DCMs (e.g., IPL, AMXL,C-NN)</a:t>
            </a:r>
            <a:endParaRPr kumimoji="1"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79254BA8-8CAF-E96E-5369-86D81A3BCD93}"/>
              </a:ext>
            </a:extLst>
          </p:cNvPr>
          <p:cNvSpPr/>
          <p:nvPr/>
        </p:nvSpPr>
        <p:spPr>
          <a:xfrm>
            <a:off x="5470451" y="2317898"/>
            <a:ext cx="1871330" cy="2184990"/>
          </a:xfrm>
          <a:custGeom>
            <a:avLst/>
            <a:gdLst>
              <a:gd name="connsiteX0" fmla="*/ 653902 w 1871330"/>
              <a:gd name="connsiteY0" fmla="*/ 0 h 2184990"/>
              <a:gd name="connsiteX1" fmla="*/ 1871330 w 1871330"/>
              <a:gd name="connsiteY1" fmla="*/ 2184990 h 2184990"/>
              <a:gd name="connsiteX2" fmla="*/ 0 w 1871330"/>
              <a:gd name="connsiteY2" fmla="*/ 1834116 h 2184990"/>
              <a:gd name="connsiteX3" fmla="*/ 653902 w 1871330"/>
              <a:gd name="connsiteY3" fmla="*/ 0 h 2184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1330" h="2184990">
                <a:moveTo>
                  <a:pt x="653902" y="0"/>
                </a:moveTo>
                <a:lnTo>
                  <a:pt x="1871330" y="2184990"/>
                </a:lnTo>
                <a:lnTo>
                  <a:pt x="0" y="1834116"/>
                </a:lnTo>
                <a:lnTo>
                  <a:pt x="653902" y="0"/>
                </a:lnTo>
                <a:close/>
              </a:path>
            </a:pathLst>
          </a:cu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58492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1" grpId="0"/>
      <p:bldP spid="12" grpId="0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6;p2">
            <a:extLst>
              <a:ext uri="{FF2B5EF4-FFF2-40B4-BE49-F238E27FC236}">
                <a16:creationId xmlns:a16="http://schemas.microsoft.com/office/drawing/2014/main" id="{3FC0B2B2-D2BE-07AC-F155-28156039A689}"/>
              </a:ext>
            </a:extLst>
          </p:cNvPr>
          <p:cNvSpPr txBox="1"/>
          <p:nvPr/>
        </p:nvSpPr>
        <p:spPr>
          <a:xfrm>
            <a:off x="392738" y="1403677"/>
            <a:ext cx="11612028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92625" lvl="1">
              <a:lnSpc>
                <a:spcPct val="140036"/>
              </a:lnSpc>
              <a:buSzPts val="1466"/>
            </a:pPr>
            <a:r>
              <a:rPr lang="en-US" altLang="zh-CN" b="1" u="sng" dirty="0"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Predicting travel demand and traffic flow</a:t>
            </a:r>
          </a:p>
          <a:p>
            <a:pPr marL="475488" lvl="1">
              <a:lnSpc>
                <a:spcPct val="140036"/>
              </a:lnSpc>
              <a:buSzPts val="1466"/>
            </a:pPr>
            <a:r>
              <a:rPr lang="en-US" sz="1200" b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Ren, X., &amp; Chow, J. Y. (2022). A random-utility-consistent machine learning method to estimate agents’ joint activity scheduling choice from a ubiquitous data set.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Transportation Research Part B: Methodological</a:t>
            </a:r>
            <a:r>
              <a:rPr lang="en-US" sz="1200" b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166, 396-418.</a:t>
            </a:r>
            <a:endParaRPr lang="en-US" altLang="zh-CN" sz="1200" dirty="0"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514E20-478F-D6E4-45D1-896849831675}"/>
              </a:ext>
            </a:extLst>
          </p:cNvPr>
          <p:cNvSpPr/>
          <p:nvPr/>
        </p:nvSpPr>
        <p:spPr>
          <a:xfrm>
            <a:off x="-1" y="0"/>
            <a:ext cx="12204338" cy="113929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Shape;88;p17">
            <a:extLst>
              <a:ext uri="{FF2B5EF4-FFF2-40B4-BE49-F238E27FC236}">
                <a16:creationId xmlns:a16="http://schemas.microsoft.com/office/drawing/2014/main" id="{0F228211-6D30-37C9-4F27-5318C267CFA9}"/>
              </a:ext>
            </a:extLst>
          </p:cNvPr>
          <p:cNvSpPr txBox="1">
            <a:spLocks/>
          </p:cNvSpPr>
          <p:nvPr/>
        </p:nvSpPr>
        <p:spPr>
          <a:xfrm>
            <a:off x="392739" y="264549"/>
            <a:ext cx="11197934" cy="80567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data-driven DCMs can do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A7116F1-54C2-A0D7-02C8-126D1CE6AC60}"/>
              </a:ext>
            </a:extLst>
          </p:cNvPr>
          <p:cNvSpPr txBox="1"/>
          <p:nvPr/>
        </p:nvSpPr>
        <p:spPr>
          <a:xfrm>
            <a:off x="11499540" y="6491235"/>
            <a:ext cx="599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BE56772-894B-D841-B1F7-F7D900972C7A}" type="slidenum">
              <a:rPr kumimoji="1" lang="zh-CN" altLang="en-US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3</a:t>
            </a:fld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E74021FD-259B-1FFE-FD87-8FDA90D4E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31" y="2587913"/>
            <a:ext cx="3113599" cy="380651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D29D1A59-C037-79CC-EC1A-6875BC2A7DA3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l="51377"/>
          <a:stretch/>
        </p:blipFill>
        <p:spPr>
          <a:xfrm>
            <a:off x="7981406" y="2920473"/>
            <a:ext cx="3752673" cy="3140693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05C6C507-9BE5-6D2A-2470-B3179EB7F917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75" r="50000" b="1881"/>
          <a:stretch/>
        </p:blipFill>
        <p:spPr bwMode="auto">
          <a:xfrm>
            <a:off x="4129872" y="2672822"/>
            <a:ext cx="3467693" cy="34667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5618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514E20-478F-D6E4-45D1-896849831675}"/>
              </a:ext>
            </a:extLst>
          </p:cNvPr>
          <p:cNvSpPr/>
          <p:nvPr/>
        </p:nvSpPr>
        <p:spPr>
          <a:xfrm>
            <a:off x="-1" y="0"/>
            <a:ext cx="12204338" cy="113929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Shape;88;p17">
            <a:extLst>
              <a:ext uri="{FF2B5EF4-FFF2-40B4-BE49-F238E27FC236}">
                <a16:creationId xmlns:a16="http://schemas.microsoft.com/office/drawing/2014/main" id="{0F228211-6D30-37C9-4F27-5318C267CFA9}"/>
              </a:ext>
            </a:extLst>
          </p:cNvPr>
          <p:cNvSpPr txBox="1">
            <a:spLocks/>
          </p:cNvSpPr>
          <p:nvPr/>
        </p:nvSpPr>
        <p:spPr>
          <a:xfrm>
            <a:off x="392739" y="264549"/>
            <a:ext cx="11197934" cy="80567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DCMs can do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A7116F1-54C2-A0D7-02C8-126D1CE6AC60}"/>
              </a:ext>
            </a:extLst>
          </p:cNvPr>
          <p:cNvSpPr txBox="1"/>
          <p:nvPr/>
        </p:nvSpPr>
        <p:spPr>
          <a:xfrm>
            <a:off x="11499540" y="6491235"/>
            <a:ext cx="599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BE56772-894B-D841-B1F7-F7D900972C7A}" type="slidenum">
              <a:rPr kumimoji="1" lang="zh-CN" altLang="en-US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4</a:t>
            </a:fld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Google Shape;246;p2">
            <a:extLst>
              <a:ext uri="{FF2B5EF4-FFF2-40B4-BE49-F238E27FC236}">
                <a16:creationId xmlns:a16="http://schemas.microsoft.com/office/drawing/2014/main" id="{C971F0C3-70EB-63E0-3900-435C3253BCFF}"/>
              </a:ext>
            </a:extLst>
          </p:cNvPr>
          <p:cNvSpPr txBox="1"/>
          <p:nvPr/>
        </p:nvSpPr>
        <p:spPr>
          <a:xfrm>
            <a:off x="392738" y="1427432"/>
            <a:ext cx="11354977" cy="930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92625" lvl="1">
              <a:lnSpc>
                <a:spcPct val="140036"/>
              </a:lnSpc>
              <a:buSzPts val="1466"/>
            </a:pPr>
            <a:r>
              <a:rPr lang="en-US" altLang="zh-CN" b="1" u="sng" dirty="0"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Evaluating New Infrastructure</a:t>
            </a:r>
          </a:p>
          <a:p>
            <a:pPr marL="475488" marR="0" lvl="1">
              <a:lnSpc>
                <a:spcPct val="140036"/>
              </a:lnSpc>
              <a:spcBef>
                <a:spcPts val="0"/>
              </a:spcBef>
              <a:spcAft>
                <a:spcPts val="200"/>
              </a:spcAft>
              <a:buSzPts val="1466"/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Ren, X., Chow, J. Y., A data fusion approach for mobility hub impact assessment and location selection: integrating hub usage data into a large-scale mode choice model. </a:t>
            </a:r>
            <a:r>
              <a:rPr lang="en-US" sz="1200" i="1" dirty="0">
                <a:solidFill>
                  <a:srgbClr val="222222"/>
                </a:solidFill>
                <a:latin typeface="Arial" panose="020B0604020202020204" pitchFamily="34" charset="0"/>
              </a:rPr>
              <a:t>Transportation Research Part A: Policy and Practice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, under review. 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hlinkClick r:id="rId3"/>
              </a:rPr>
              <a:t>https://papers.ssrn.com/sol3/papers.cfm?abstract_id=5200375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8" name="Picture 7" descr="A map of a city&#10;&#10;Description automatically generated">
            <a:extLst>
              <a:ext uri="{FF2B5EF4-FFF2-40B4-BE49-F238E27FC236}">
                <a16:creationId xmlns:a16="http://schemas.microsoft.com/office/drawing/2014/main" id="{4F706000-8AFA-2E9B-61F4-CA64B9789D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644" y="2666420"/>
            <a:ext cx="5228645" cy="3699219"/>
          </a:xfrm>
          <a:prstGeom prst="rect">
            <a:avLst/>
          </a:prstGeom>
        </p:spPr>
      </p:pic>
      <p:pic>
        <p:nvPicPr>
          <p:cNvPr id="10" name="Picture 9" descr="A map of a city&#10;&#10;Description automatically generated">
            <a:extLst>
              <a:ext uri="{FF2B5EF4-FFF2-40B4-BE49-F238E27FC236}">
                <a16:creationId xmlns:a16="http://schemas.microsoft.com/office/drawing/2014/main" id="{B27D206C-FFA1-3EC1-98D3-7633E699CE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69" y="2666420"/>
            <a:ext cx="5228645" cy="369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334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514E20-478F-D6E4-45D1-896849831675}"/>
              </a:ext>
            </a:extLst>
          </p:cNvPr>
          <p:cNvSpPr/>
          <p:nvPr/>
        </p:nvSpPr>
        <p:spPr>
          <a:xfrm>
            <a:off x="-1" y="0"/>
            <a:ext cx="12204338" cy="113929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Shape;88;p17">
            <a:extLst>
              <a:ext uri="{FF2B5EF4-FFF2-40B4-BE49-F238E27FC236}">
                <a16:creationId xmlns:a16="http://schemas.microsoft.com/office/drawing/2014/main" id="{0F228211-6D30-37C9-4F27-5318C267CFA9}"/>
              </a:ext>
            </a:extLst>
          </p:cNvPr>
          <p:cNvSpPr txBox="1">
            <a:spLocks/>
          </p:cNvSpPr>
          <p:nvPr/>
        </p:nvSpPr>
        <p:spPr>
          <a:xfrm>
            <a:off x="392739" y="264549"/>
            <a:ext cx="11197934" cy="80567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DCMs can do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A7116F1-54C2-A0D7-02C8-126D1CE6AC60}"/>
              </a:ext>
            </a:extLst>
          </p:cNvPr>
          <p:cNvSpPr txBox="1"/>
          <p:nvPr/>
        </p:nvSpPr>
        <p:spPr>
          <a:xfrm>
            <a:off x="11499540" y="6491235"/>
            <a:ext cx="599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BE56772-894B-D841-B1F7-F7D900972C7A}" type="slidenum">
              <a:rPr kumimoji="1" lang="zh-CN" altLang="en-US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5</a:t>
            </a:fld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Google Shape;246;p2">
            <a:extLst>
              <a:ext uri="{FF2B5EF4-FFF2-40B4-BE49-F238E27FC236}">
                <a16:creationId xmlns:a16="http://schemas.microsoft.com/office/drawing/2014/main" id="{A79BAB55-7D17-9CF4-1698-EEAE208BA735}"/>
              </a:ext>
            </a:extLst>
          </p:cNvPr>
          <p:cNvSpPr txBox="1"/>
          <p:nvPr/>
        </p:nvSpPr>
        <p:spPr>
          <a:xfrm>
            <a:off x="392738" y="1403843"/>
            <a:ext cx="11354977" cy="930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92625" lvl="1">
              <a:lnSpc>
                <a:spcPct val="140036"/>
              </a:lnSpc>
              <a:buSzPts val="1466"/>
            </a:pPr>
            <a:r>
              <a:rPr lang="en-US" altLang="zh-CN" b="1" u="sng" dirty="0"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Optimizing Transportation Networks</a:t>
            </a:r>
          </a:p>
          <a:p>
            <a:pPr marL="475488" marR="0" lvl="1">
              <a:lnSpc>
                <a:spcPct val="140036"/>
              </a:lnSpc>
              <a:spcBef>
                <a:spcPts val="0"/>
              </a:spcBef>
              <a:spcAft>
                <a:spcPts val="200"/>
              </a:spcAft>
              <a:buSzPts val="1466"/>
            </a:pP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Ren, X., Chow, J. Y., &amp; Guan, C. (2024). Mobility service design with equity-aware choice-based decision-support tool: New York case study.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Transportation Research Part D: Transport and Environment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132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104255.</a:t>
            </a:r>
            <a:endParaRPr lang="en-US" sz="1200" i="1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DCA45A-948C-CBAA-24E6-D2CA310D38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283"/>
          <a:stretch/>
        </p:blipFill>
        <p:spPr>
          <a:xfrm>
            <a:off x="392738" y="2585641"/>
            <a:ext cx="4392966" cy="38110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1979B3-5656-EFD5-A538-33C87BF0058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9919"/>
          <a:stretch/>
        </p:blipFill>
        <p:spPr>
          <a:xfrm>
            <a:off x="8988701" y="2585641"/>
            <a:ext cx="2314125" cy="3727092"/>
          </a:xfrm>
          <a:prstGeom prst="rect">
            <a:avLst/>
          </a:prstGeom>
        </p:spPr>
      </p:pic>
      <p:pic>
        <p:nvPicPr>
          <p:cNvPr id="7" name="Picture 6" descr="A graph of vehicles and budget levels&#10;&#10;Description automatically generated">
            <a:extLst>
              <a:ext uri="{FF2B5EF4-FFF2-40B4-BE49-F238E27FC236}">
                <a16:creationId xmlns:a16="http://schemas.microsoft.com/office/drawing/2014/main" id="{AE7261CB-52C9-48BB-5DFC-64C43998443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9766"/>
          <a:stretch/>
        </p:blipFill>
        <p:spPr>
          <a:xfrm>
            <a:off x="5302809" y="2605649"/>
            <a:ext cx="3011528" cy="3727092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454F2966-7812-20D2-A638-305EB0141AB3}"/>
              </a:ext>
            </a:extLst>
          </p:cNvPr>
          <p:cNvSpPr/>
          <p:nvPr/>
        </p:nvSpPr>
        <p:spPr>
          <a:xfrm>
            <a:off x="4825974" y="3214455"/>
            <a:ext cx="185876" cy="2125589"/>
          </a:xfrm>
          <a:prstGeom prst="rightArrow">
            <a:avLst/>
          </a:prstGeom>
          <a:solidFill>
            <a:srgbClr val="E7E2FA">
              <a:alpha val="84954"/>
            </a:srgbClr>
          </a:solidFill>
          <a:ln w="28575" cmpd="dbl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2B40F9E-F1C2-EBE7-324F-E7096D34AC03}"/>
              </a:ext>
            </a:extLst>
          </p:cNvPr>
          <p:cNvSpPr/>
          <p:nvPr/>
        </p:nvSpPr>
        <p:spPr>
          <a:xfrm>
            <a:off x="8522763" y="3214455"/>
            <a:ext cx="185876" cy="2125589"/>
          </a:xfrm>
          <a:prstGeom prst="rightArrow">
            <a:avLst/>
          </a:prstGeom>
          <a:solidFill>
            <a:srgbClr val="E7E2FA">
              <a:alpha val="84954"/>
            </a:srgbClr>
          </a:solidFill>
          <a:ln w="28575" cmpd="dbl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295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6;p2">
            <a:extLst>
              <a:ext uri="{FF2B5EF4-FFF2-40B4-BE49-F238E27FC236}">
                <a16:creationId xmlns:a16="http://schemas.microsoft.com/office/drawing/2014/main" id="{3FC0B2B2-D2BE-07AC-F155-28156039A689}"/>
              </a:ext>
            </a:extLst>
          </p:cNvPr>
          <p:cNvSpPr txBox="1"/>
          <p:nvPr/>
        </p:nvSpPr>
        <p:spPr>
          <a:xfrm>
            <a:off x="392739" y="2066271"/>
            <a:ext cx="11197934" cy="3576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92625" lvl="1">
              <a:lnSpc>
                <a:spcPct val="140036"/>
              </a:lnSpc>
              <a:buSzPts val="1466"/>
            </a:pPr>
            <a:r>
              <a:rPr lang="en-US" altLang="zh-CN" sz="2000" b="1" u="sng" dirty="0"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Theoretical underpinnings of DCM (5-10 min)</a:t>
            </a:r>
          </a:p>
          <a:p>
            <a:pPr marL="478375" lvl="1" indent="-285750">
              <a:lnSpc>
                <a:spcPct val="140036"/>
              </a:lnSpc>
              <a:buSzPts val="1466"/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Decision maker, alternative, utility, choice probability</a:t>
            </a:r>
          </a:p>
          <a:p>
            <a:pPr marL="478375" lvl="1" indent="-285750">
              <a:lnSpc>
                <a:spcPct val="140036"/>
              </a:lnSpc>
              <a:buSzPts val="1466"/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Basis of multinominal logit (MNL) and mixed logit (MXL)</a:t>
            </a:r>
          </a:p>
          <a:p>
            <a:pPr marL="478375" lvl="1" indent="-285750">
              <a:lnSpc>
                <a:spcPct val="140036"/>
              </a:lnSpc>
              <a:buSzPts val="1466"/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sym typeface="Poppins"/>
              </a:rPr>
              <a:t>Basis of agent-based mixed logit (AMXL)</a:t>
            </a:r>
          </a:p>
          <a:p>
            <a:pPr marL="478375" lvl="1" indent="-285750">
              <a:lnSpc>
                <a:spcPct val="140036"/>
              </a:lnSpc>
              <a:buSzPts val="1466"/>
              <a:buFont typeface="Arial" panose="020B0604020202020204" pitchFamily="34" charset="0"/>
              <a:buChar char="•"/>
            </a:pPr>
            <a:endParaRPr lang="en-US" altLang="zh-CN" b="1" dirty="0">
              <a:solidFill>
                <a:srgbClr val="2289BC"/>
              </a:solidFill>
              <a:latin typeface="Arial" panose="020B0604020202020204" pitchFamily="34" charset="0"/>
              <a:cs typeface="Arial" panose="020B0604020202020204" pitchFamily="34" charset="0"/>
              <a:sym typeface="Poppins"/>
            </a:endParaRPr>
          </a:p>
          <a:p>
            <a:pPr marL="192625" lvl="1">
              <a:lnSpc>
                <a:spcPct val="140036"/>
              </a:lnSpc>
              <a:buSzPts val="1466"/>
            </a:pPr>
            <a:r>
              <a:rPr lang="en-US" altLang="zh-CN" sz="2000" b="1" u="sng" dirty="0"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How to build MNL, NL, MXL, and AMXL (25-30 min)</a:t>
            </a:r>
          </a:p>
          <a:p>
            <a:pPr marL="478375" lvl="1" indent="-285750">
              <a:lnSpc>
                <a:spcPct val="140036"/>
              </a:lnSpc>
              <a:buSzPts val="1466"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structure for choice modeling</a:t>
            </a:r>
          </a:p>
          <a:p>
            <a:pPr marL="478375" lvl="1" indent="-285750">
              <a:lnSpc>
                <a:spcPct val="140036"/>
              </a:lnSpc>
              <a:buSzPts val="1466"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Building MNL, MXL and interpreting the results </a:t>
            </a:r>
          </a:p>
          <a:p>
            <a:pPr marL="478375" lvl="1" indent="-285750">
              <a:lnSpc>
                <a:spcPct val="140036"/>
              </a:lnSpc>
              <a:buSzPts val="1466"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Building AMXL and interpreting the results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514E20-478F-D6E4-45D1-896849831675}"/>
              </a:ext>
            </a:extLst>
          </p:cNvPr>
          <p:cNvSpPr/>
          <p:nvPr/>
        </p:nvSpPr>
        <p:spPr>
          <a:xfrm>
            <a:off x="-1" y="0"/>
            <a:ext cx="12204338" cy="113929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Shape;88;p17">
            <a:extLst>
              <a:ext uri="{FF2B5EF4-FFF2-40B4-BE49-F238E27FC236}">
                <a16:creationId xmlns:a16="http://schemas.microsoft.com/office/drawing/2014/main" id="{0F228211-6D30-37C9-4F27-5318C267CFA9}"/>
              </a:ext>
            </a:extLst>
          </p:cNvPr>
          <p:cNvSpPr txBox="1">
            <a:spLocks/>
          </p:cNvSpPr>
          <p:nvPr/>
        </p:nvSpPr>
        <p:spPr>
          <a:xfrm>
            <a:off x="392739" y="264549"/>
            <a:ext cx="5148560" cy="80567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Today you will learn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1EDFDF-1C29-0A56-3612-D375848B3162}"/>
              </a:ext>
            </a:extLst>
          </p:cNvPr>
          <p:cNvSpPr txBox="1"/>
          <p:nvPr/>
        </p:nvSpPr>
        <p:spPr>
          <a:xfrm>
            <a:off x="11499540" y="6491235"/>
            <a:ext cx="599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BE56772-894B-D841-B1F7-F7D900972C7A}" type="slidenum">
              <a:rPr kumimoji="1" lang="zh-CN" altLang="en-US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6</a:t>
            </a:fld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677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8C2148E-4E76-154D-A4AF-5645D32DEFD5}"/>
              </a:ext>
            </a:extLst>
          </p:cNvPr>
          <p:cNvSpPr/>
          <p:nvPr/>
        </p:nvSpPr>
        <p:spPr>
          <a:xfrm>
            <a:off x="0" y="0"/>
            <a:ext cx="12226938" cy="685800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2680630" y="3044279"/>
            <a:ext cx="686567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Theoretical Part</a:t>
            </a:r>
            <a:endParaRPr lang="zh-CN" altLang="en-US" sz="4400" b="1" dirty="0">
              <a:solidFill>
                <a:schemeClr val="bg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C122A8-FA24-A44B-9AFA-699873847566}"/>
              </a:ext>
            </a:extLst>
          </p:cNvPr>
          <p:cNvSpPr/>
          <p:nvPr/>
        </p:nvSpPr>
        <p:spPr>
          <a:xfrm>
            <a:off x="666750" y="704850"/>
            <a:ext cx="10858500" cy="552450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983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FC0F3B2-A2C0-3EA1-750E-5C37CC0CC05D}"/>
              </a:ext>
            </a:extLst>
          </p:cNvPr>
          <p:cNvSpPr/>
          <p:nvPr/>
        </p:nvSpPr>
        <p:spPr>
          <a:xfrm>
            <a:off x="-1" y="0"/>
            <a:ext cx="12204338" cy="113929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Google Shape;88;p17">
            <a:extLst>
              <a:ext uri="{FF2B5EF4-FFF2-40B4-BE49-F238E27FC236}">
                <a16:creationId xmlns:a16="http://schemas.microsoft.com/office/drawing/2014/main" id="{9881DBDD-B2A2-E7E4-B026-1A1310A10F3B}"/>
              </a:ext>
            </a:extLst>
          </p:cNvPr>
          <p:cNvSpPr txBox="1">
            <a:spLocks/>
          </p:cNvSpPr>
          <p:nvPr/>
        </p:nvSpPr>
        <p:spPr>
          <a:xfrm>
            <a:off x="223540" y="264549"/>
            <a:ext cx="10993437" cy="80567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are Discrete Choice Models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216DD8-CA62-D601-3C8C-900596E5FD86}"/>
              </a:ext>
            </a:extLst>
          </p:cNvPr>
          <p:cNvSpPr txBox="1"/>
          <p:nvPr/>
        </p:nvSpPr>
        <p:spPr>
          <a:xfrm>
            <a:off x="11499540" y="6491235"/>
            <a:ext cx="599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BE56772-894B-D841-B1F7-F7D900972C7A}" type="slidenum">
              <a:rPr kumimoji="1" lang="zh-CN" altLang="en-US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8</a:t>
            </a:fld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diagram of a person with a diagram of a person with a diagram of a person with a diagram of a person with a diagram of a person with a diagram of a person with a diagram of&#10;&#10;Description automatically generated">
            <a:extLst>
              <a:ext uri="{FF2B5EF4-FFF2-40B4-BE49-F238E27FC236}">
                <a16:creationId xmlns:a16="http://schemas.microsoft.com/office/drawing/2014/main" id="{DD0662C5-9EE1-9AD6-4D62-E8301629038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54"/>
          <a:stretch/>
        </p:blipFill>
        <p:spPr>
          <a:xfrm>
            <a:off x="427206" y="2298006"/>
            <a:ext cx="5037620" cy="27420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FE812A-6B27-9D6B-8DA0-0B76C84FFE23}"/>
              </a:ext>
            </a:extLst>
          </p:cNvPr>
          <p:cNvSpPr txBox="1"/>
          <p:nvPr/>
        </p:nvSpPr>
        <p:spPr>
          <a:xfrm>
            <a:off x="223540" y="1427168"/>
            <a:ext cx="11686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2A2B2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Discrete choice models are used to </a:t>
            </a:r>
            <a:r>
              <a:rPr lang="en-US" sz="2000" b="1" i="0" dirty="0">
                <a:solidFill>
                  <a:srgbClr val="C65A1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analyze and predict </a:t>
            </a:r>
            <a:r>
              <a:rPr lang="en-US" sz="2000" dirty="0">
                <a:solidFill>
                  <a:srgbClr val="2A2B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an </a:t>
            </a:r>
            <a:r>
              <a:rPr lang="en-US" sz="2000" b="1" i="0" dirty="0">
                <a:solidFill>
                  <a:srgbClr val="C65A1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individual </a:t>
            </a:r>
            <a:r>
              <a:rPr lang="en-US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makes choices from</a:t>
            </a:r>
            <a:r>
              <a:rPr lang="en-US" sz="2000" b="1" i="0" dirty="0">
                <a:solidFill>
                  <a:srgbClr val="C65A1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set of finite, exhaustive and mutually exclusive </a:t>
            </a:r>
            <a:r>
              <a:rPr lang="en-US" sz="2000" b="1" i="0" dirty="0">
                <a:solidFill>
                  <a:srgbClr val="C65A1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alternatives</a:t>
            </a:r>
            <a:r>
              <a:rPr lang="en-US" sz="2000" b="0" i="0" dirty="0">
                <a:solidFill>
                  <a:srgbClr val="2A2B2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9EDEF5-F67D-7D36-9450-05AEAEE4715C}"/>
              </a:ext>
            </a:extLst>
          </p:cNvPr>
          <p:cNvSpPr txBox="1"/>
          <p:nvPr/>
        </p:nvSpPr>
        <p:spPr>
          <a:xfrm>
            <a:off x="5895523" y="2344480"/>
            <a:ext cx="6368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/>
              <a:t>Decision maker:</a:t>
            </a:r>
          </a:p>
          <a:p>
            <a:r>
              <a:rPr kumimoji="1" lang="en-US" altLang="zh-CN" sz="1600" dirty="0"/>
              <a:t>Can be an individual or a group of individuals (e.g., travelers)  </a:t>
            </a:r>
            <a:endParaRPr kumimoji="1" lang="zh-CN" altLang="en-US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63E9DA-F2C6-5D35-484F-EB6815782DD2}"/>
              </a:ext>
            </a:extLst>
          </p:cNvPr>
          <p:cNvSpPr txBox="1"/>
          <p:nvPr/>
        </p:nvSpPr>
        <p:spPr>
          <a:xfrm>
            <a:off x="5895524" y="3101944"/>
            <a:ext cx="6014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/>
              <a:t>Alternative:</a:t>
            </a:r>
          </a:p>
          <a:p>
            <a:r>
              <a:rPr kumimoji="1" lang="en-US" altLang="zh-CN" sz="1600" dirty="0"/>
              <a:t>What options are available? (e.g., transit, taxi, biking, driving)</a:t>
            </a:r>
            <a:r>
              <a:rPr kumimoji="1" lang="en-US" altLang="zh-CN" sz="1600" b="1" dirty="0"/>
              <a:t> </a:t>
            </a:r>
            <a:endParaRPr kumimoji="1"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B4B4525-AD1D-2278-6BE3-A3CA212F6EF5}"/>
                  </a:ext>
                </a:extLst>
              </p:cNvPr>
              <p:cNvSpPr txBox="1"/>
              <p:nvPr/>
            </p:nvSpPr>
            <p:spPr>
              <a:xfrm>
                <a:off x="433543" y="5432854"/>
                <a:ext cx="3679773" cy="3965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CN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𝑛𝑗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sym typeface="Symbol" pitchFamily="2" charset="2"/>
                            </a:rPr>
                            <m:t>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sym typeface="Symbol" pitchFamily="2" charset="2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CN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sym typeface="Symbol" pitchFamily="2" charset="2"/>
                            </a:rPr>
                            <m:t>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sym typeface="Symbol" pitchFamily="2" charset="2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CN" altLang="en-US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B4B4525-AD1D-2278-6BE3-A3CA212F6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543" y="5432854"/>
                <a:ext cx="3679773" cy="396519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EF8DC62-9588-E732-6DF4-ACE6C34282B7}"/>
                  </a:ext>
                </a:extLst>
              </p:cNvPr>
              <p:cNvSpPr txBox="1"/>
              <p:nvPr/>
            </p:nvSpPr>
            <p:spPr>
              <a:xfrm>
                <a:off x="3386336" y="5482931"/>
                <a:ext cx="85237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600" dirty="0">
                    <a:solidFill>
                      <a:srgbClr val="C65A11"/>
                    </a:solidFill>
                  </a:rPr>
                  <a:t>Total utility = Systematic utility (taste parameters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C65A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en-US" altLang="zh-CN" sz="1600" dirty="0">
                    <a:solidFill>
                      <a:srgbClr val="C65A11"/>
                    </a:solidFill>
                  </a:rPr>
                  <a:t> * variables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C65A1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zh-CN" sz="1600" dirty="0">
                    <a:solidFill>
                      <a:srgbClr val="C65A11"/>
                    </a:solidFill>
                  </a:rPr>
                  <a:t>) + Radom disturbance (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C65A11"/>
                        </a:solidFill>
                        <a:latin typeface="Cambria Math" panose="02040503050406030204" pitchFamily="18" charset="0"/>
                        <a:sym typeface="Symbol" pitchFamily="2" charset="2"/>
                      </a:rPr>
                      <m:t></m:t>
                    </m:r>
                  </m:oMath>
                </a14:m>
                <a:r>
                  <a:rPr kumimoji="1" lang="en-US" altLang="zh-CN" sz="1600" dirty="0">
                    <a:solidFill>
                      <a:srgbClr val="C65A11"/>
                    </a:solidFill>
                  </a:rPr>
                  <a:t>) </a:t>
                </a:r>
                <a:endParaRPr kumimoji="1" lang="zh-CN" altLang="en-US" sz="1600" dirty="0">
                  <a:solidFill>
                    <a:srgbClr val="C65A1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EF8DC62-9588-E732-6DF4-ACE6C3428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6336" y="5482931"/>
                <a:ext cx="8523723" cy="338554"/>
              </a:xfrm>
              <a:prstGeom prst="rect">
                <a:avLst/>
              </a:prstGeom>
              <a:blipFill>
                <a:blip r:embed="rId5"/>
                <a:stretch>
                  <a:fillRect l="-298" t="-3571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7D8326C-F5BB-8BD8-6CD7-FA02153BA0BB}"/>
                  </a:ext>
                </a:extLst>
              </p:cNvPr>
              <p:cNvSpPr txBox="1"/>
              <p:nvPr/>
            </p:nvSpPr>
            <p:spPr>
              <a:xfrm>
                <a:off x="433542" y="5991404"/>
                <a:ext cx="6905859" cy="4107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p>
                            <m:sSupPr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p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r>
                        <a:rPr lang="zh-CN" alt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⁡{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sym typeface="Symbol" pitchFamily="2" charset="2"/>
                            </a:rPr>
                            <m:t>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sym typeface="Symbol" pitchFamily="2" charset="2"/>
                            </a:rPr>
                            <m:t>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7D8326C-F5BB-8BD8-6CD7-FA02153BA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542" y="5991404"/>
                <a:ext cx="6905859" cy="410753"/>
              </a:xfrm>
              <a:prstGeom prst="rect">
                <a:avLst/>
              </a:prstGeom>
              <a:blipFill>
                <a:blip r:embed="rId6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0CA7DB67-B179-DC88-7904-CBB30205B889}"/>
              </a:ext>
            </a:extLst>
          </p:cNvPr>
          <p:cNvSpPr txBox="1"/>
          <p:nvPr/>
        </p:nvSpPr>
        <p:spPr>
          <a:xfrm>
            <a:off x="7121077" y="5932064"/>
            <a:ext cx="455222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 dirty="0">
                <a:solidFill>
                  <a:srgbClr val="C65A11"/>
                </a:solidFill>
              </a:rPr>
              <a:t>Utility maximization theory: </a:t>
            </a:r>
            <a:r>
              <a:rPr kumimoji="1" lang="en-US" altLang="zh-CN" sz="1400" i="1" dirty="0">
                <a:solidFill>
                  <a:srgbClr val="C65A11"/>
                </a:solidFill>
              </a:rPr>
              <a:t>individuals/agents make choice by maximizing the total utility they expect to gain. </a:t>
            </a:r>
            <a:endParaRPr lang="zh-CN" altLang="en-US" sz="1600" i="1" dirty="0">
              <a:solidFill>
                <a:srgbClr val="C65A1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DE114ED-5D41-D844-B69B-F7F082413B0A}"/>
                  </a:ext>
                </a:extLst>
              </p:cNvPr>
              <p:cNvSpPr txBox="1"/>
              <p:nvPr/>
            </p:nvSpPr>
            <p:spPr>
              <a:xfrm>
                <a:off x="5895524" y="3893724"/>
                <a:ext cx="620345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600" b="1" dirty="0"/>
                  <a:t>Utility (</a:t>
                </a:r>
                <a14:m>
                  <m:oMath xmlns:m="http://schemas.openxmlformats.org/officeDocument/2006/math">
                    <m:r>
                      <a:rPr kumimoji="1" lang="en-US" altLang="zh-CN" sz="1600" b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zh-CN" sz="1600" b="1" dirty="0"/>
                  <a:t>, </a:t>
                </a:r>
                <a14:m>
                  <m:oMath xmlns:m="http://schemas.openxmlformats.org/officeDocument/2006/math">
                    <m:r>
                      <a:rPr kumimoji="1" lang="en-US" altLang="zh-CN" sz="1600" b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en-US" altLang="zh-CN" sz="1600" b="1" dirty="0"/>
                  <a:t>, </a:t>
                </a:r>
                <a14:m>
                  <m:oMath xmlns:m="http://schemas.openxmlformats.org/officeDocument/2006/math">
                    <m:r>
                      <a:rPr kumimoji="1" lang="en-US" sz="1600" b="1">
                        <a:latin typeface="Cambria Math" panose="02040503050406030204" pitchFamily="18" charset="0"/>
                        <a:sym typeface="Symbol" pitchFamily="2" charset="2"/>
                      </a:rPr>
                      <m:t></m:t>
                    </m:r>
                  </m:oMath>
                </a14:m>
                <a:r>
                  <a:rPr kumimoji="1" lang="en-US" altLang="zh-CN" sz="1600" b="1" dirty="0"/>
                  <a:t>):</a:t>
                </a:r>
              </a:p>
              <a:p>
                <a:r>
                  <a:rPr lang="en-US" sz="1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How to analyze the preference for an alternative? 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DE114ED-5D41-D844-B69B-F7F082413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524" y="3893724"/>
                <a:ext cx="6203456" cy="584775"/>
              </a:xfrm>
              <a:prstGeom prst="rect">
                <a:avLst/>
              </a:prstGeom>
              <a:blipFill>
                <a:blip r:embed="rId7"/>
                <a:stretch>
                  <a:fillRect l="-613" t="-2128" b="-148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96F6452D-34CB-B332-A713-B45763131A58}"/>
              </a:ext>
            </a:extLst>
          </p:cNvPr>
          <p:cNvSpPr txBox="1"/>
          <p:nvPr/>
        </p:nvSpPr>
        <p:spPr>
          <a:xfrm>
            <a:off x="5895524" y="4649603"/>
            <a:ext cx="6014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/>
              <a:t>Choice probability (utility maximization):</a:t>
            </a:r>
          </a:p>
          <a:p>
            <a:r>
              <a:rPr kumimoji="1" lang="en-US" altLang="zh-CN" sz="1600" dirty="0"/>
              <a:t>How to predict the choice made by decision makers? </a:t>
            </a:r>
            <a:endParaRPr kumimoji="1"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9129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FC0F3B2-A2C0-3EA1-750E-5C37CC0CC05D}"/>
              </a:ext>
            </a:extLst>
          </p:cNvPr>
          <p:cNvSpPr/>
          <p:nvPr/>
        </p:nvSpPr>
        <p:spPr>
          <a:xfrm>
            <a:off x="-1" y="0"/>
            <a:ext cx="12204338" cy="113929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Google Shape;88;p17">
            <a:extLst>
              <a:ext uri="{FF2B5EF4-FFF2-40B4-BE49-F238E27FC236}">
                <a16:creationId xmlns:a16="http://schemas.microsoft.com/office/drawing/2014/main" id="{9881DBDD-B2A2-E7E4-B026-1A1310A10F3B}"/>
              </a:ext>
            </a:extLst>
          </p:cNvPr>
          <p:cNvSpPr txBox="1">
            <a:spLocks/>
          </p:cNvSpPr>
          <p:nvPr/>
        </p:nvSpPr>
        <p:spPr>
          <a:xfrm>
            <a:off x="223540" y="264549"/>
            <a:ext cx="10993437" cy="80567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Multinomial Logit and Mixed Logit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73CF37-9512-5F17-D3ED-EB3FD7F3F5B8}"/>
              </a:ext>
            </a:extLst>
          </p:cNvPr>
          <p:cNvSpPr txBox="1"/>
          <p:nvPr/>
        </p:nvSpPr>
        <p:spPr>
          <a:xfrm>
            <a:off x="270035" y="1403843"/>
            <a:ext cx="7874585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Multinominal Logit (MNL) and Mixed Logit (MXL)</a:t>
            </a:r>
            <a:endParaRPr lang="zh-CN" altLang="en-US" sz="18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2829E0C-28ED-B1DE-9848-C6447AA5A769}"/>
                  </a:ext>
                </a:extLst>
              </p:cNvPr>
              <p:cNvSpPr txBox="1"/>
              <p:nvPr/>
            </p:nvSpPr>
            <p:spPr>
              <a:xfrm>
                <a:off x="270034" y="1878783"/>
                <a:ext cx="11206399" cy="9282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7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value of </a:t>
                </a:r>
                <a14:m>
                  <m:oMath xmlns:m="http://schemas.openxmlformats.org/officeDocument/2006/math">
                    <m:r>
                      <a:rPr lang="en-US" altLang="zh-CN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7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the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rgbClr val="2A2B2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>
                            <a:solidFill>
                              <a:srgbClr val="2A2B2D"/>
                            </a:solidFill>
                            <a:latin typeface="Cambria Math" panose="02040503050406030204" pitchFamily="18" charset="0"/>
                            <a:sym typeface="Symbol" pitchFamily="2" charset="2"/>
                          </a:rPr>
                          <m:t></m:t>
                        </m:r>
                      </m:e>
                      <m:sub>
                        <m:r>
                          <a:rPr lang="en-US" sz="1700">
                            <a:solidFill>
                              <a:srgbClr val="2A2B2D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CN" sz="17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determine how DCMs calculate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7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zh-CN" altLang="en-US" sz="1700" i="1"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sSupPr>
                            <m:ctrlPr>
                              <a:rPr lang="en-US" altLang="zh-CN" sz="17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17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altLang="zh-CN" sz="17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altLang="zh-CN" sz="17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7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Assuming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rgbClr val="2A2B2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>
                            <a:solidFill>
                              <a:srgbClr val="2A2B2D"/>
                            </a:solidFill>
                            <a:latin typeface="Cambria Math" panose="02040503050406030204" pitchFamily="18" charset="0"/>
                            <a:sym typeface="Symbol" pitchFamily="2" charset="2"/>
                          </a:rPr>
                          <m:t></m:t>
                        </m:r>
                      </m:e>
                      <m:sub>
                        <m:r>
                          <a:rPr lang="en-US" sz="1700">
                            <a:solidFill>
                              <a:srgbClr val="2A2B2D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CN" sz="17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be </a:t>
                </a:r>
                <a:r>
                  <a:rPr lang="en-US" altLang="zh-CN" sz="1700" b="1" dirty="0">
                    <a:solidFill>
                      <a:srgbClr val="C65A1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Gumbel distributed </a:t>
                </a:r>
                <a:r>
                  <a:rPr lang="en-US" altLang="zh-CN" sz="17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results in logit models. Assuming </a:t>
                </a:r>
                <a14:m>
                  <m:oMath xmlns:m="http://schemas.openxmlformats.org/officeDocument/2006/math">
                    <m:r>
                      <a:rPr lang="en-US" altLang="zh-CN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CN" sz="17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be </a:t>
                </a:r>
                <a:r>
                  <a:rPr lang="en-US" altLang="zh-CN" sz="1700" b="1" dirty="0">
                    <a:solidFill>
                      <a:srgbClr val="C65A1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fixed values </a:t>
                </a:r>
                <a:r>
                  <a:rPr lang="en-US" altLang="zh-CN" sz="17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results in MNL model. Assuming </a:t>
                </a:r>
                <a14:m>
                  <m:oMath xmlns:m="http://schemas.openxmlformats.org/officeDocument/2006/math">
                    <m:r>
                      <a:rPr lang="en-US" altLang="zh-CN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CN" sz="17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be a </a:t>
                </a:r>
                <a:r>
                  <a:rPr lang="en-US" altLang="zh-CN" sz="1700" b="1" dirty="0">
                    <a:solidFill>
                      <a:srgbClr val="C65A1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parametric distribution </a:t>
                </a:r>
                <a:r>
                  <a:rPr lang="en-US" altLang="zh-CN" sz="17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(e.g., normal, uniform, triangular) results in MXL model </a:t>
                </a:r>
                <a:endParaRPr lang="zh-CN" altLang="en-US" sz="1700" i="1" dirty="0">
                  <a:solidFill>
                    <a:srgbClr val="2A2B2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2829E0C-28ED-B1DE-9848-C6447AA5A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034" y="1878783"/>
                <a:ext cx="11206399" cy="928267"/>
              </a:xfrm>
              <a:prstGeom prst="rect">
                <a:avLst/>
              </a:prstGeom>
              <a:blipFill>
                <a:blip r:embed="rId3"/>
                <a:stretch>
                  <a:fillRect l="-340" t="-2703" b="-8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2943D13-E244-FF8C-24F0-C6730DA17727}"/>
                  </a:ext>
                </a:extLst>
              </p:cNvPr>
              <p:cNvSpPr txBox="1"/>
              <p:nvPr/>
            </p:nvSpPr>
            <p:spPr>
              <a:xfrm>
                <a:off x="1523749" y="2884144"/>
                <a:ext cx="2249318" cy="8097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p>
                            <m:sSupPr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p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2943D13-E244-FF8C-24F0-C6730DA17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3749" y="2884144"/>
                <a:ext cx="2249318" cy="809773"/>
              </a:xfrm>
              <a:prstGeom prst="rect">
                <a:avLst/>
              </a:prstGeom>
              <a:blipFill>
                <a:blip r:embed="rId4"/>
                <a:stretch>
                  <a:fillRect t="-3125" b="-734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74DEEFE-EAE3-3481-D64F-78D87FB29604}"/>
                  </a:ext>
                </a:extLst>
              </p:cNvPr>
              <p:cNvSpPr txBox="1"/>
              <p:nvPr/>
            </p:nvSpPr>
            <p:spPr>
              <a:xfrm>
                <a:off x="6257765" y="2884144"/>
                <a:ext cx="3431276" cy="852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p>
                            <m:sSupPr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p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</m:sub>
                                  </m:sSub>
                                </m:sup>
                              </m:sSup>
                            </m:num>
                            <m:den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𝐽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den>
                          </m:f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>
                              <a:latin typeface="Cambria Math" panose="02040503050406030204" pitchFamily="18" charset="0"/>
                              <a:sym typeface="Symbol" pitchFamily="2" charset="2"/>
                            </a:rPr>
                            <m:t>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74DEEFE-EAE3-3481-D64F-78D87FB29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7765" y="2884144"/>
                <a:ext cx="3431276" cy="852221"/>
              </a:xfrm>
              <a:prstGeom prst="rect">
                <a:avLst/>
              </a:prstGeom>
              <a:blipFill>
                <a:blip r:embed="rId5"/>
                <a:stretch>
                  <a:fillRect l="-6642" t="-123529" b="-180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F26124AF-E5E7-28E7-4721-6B4405F0AB64}"/>
              </a:ext>
            </a:extLst>
          </p:cNvPr>
          <p:cNvSpPr txBox="1"/>
          <p:nvPr/>
        </p:nvSpPr>
        <p:spPr>
          <a:xfrm>
            <a:off x="3520605" y="3160534"/>
            <a:ext cx="16515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 dirty="0">
                <a:solidFill>
                  <a:srgbClr val="C65A11"/>
                </a:solidFill>
              </a:rPr>
              <a:t>MNL form</a:t>
            </a:r>
            <a:endParaRPr lang="zh-CN" altLang="en-US" sz="1600" dirty="0">
              <a:solidFill>
                <a:srgbClr val="C65A1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0FFF10-2715-BC35-8930-6B48B76B2777}"/>
              </a:ext>
            </a:extLst>
          </p:cNvPr>
          <p:cNvSpPr txBox="1"/>
          <p:nvPr/>
        </p:nvSpPr>
        <p:spPr>
          <a:xfrm>
            <a:off x="9689041" y="3160534"/>
            <a:ext cx="16515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 dirty="0">
                <a:solidFill>
                  <a:srgbClr val="C65A11"/>
                </a:solidFill>
              </a:rPr>
              <a:t>MXL form</a:t>
            </a:r>
            <a:endParaRPr lang="zh-CN" altLang="en-US" sz="1600" dirty="0">
              <a:solidFill>
                <a:srgbClr val="C65A1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216DD8-CA62-D601-3C8C-900596E5FD86}"/>
              </a:ext>
            </a:extLst>
          </p:cNvPr>
          <p:cNvSpPr txBox="1"/>
          <p:nvPr/>
        </p:nvSpPr>
        <p:spPr>
          <a:xfrm>
            <a:off x="11499540" y="6491235"/>
            <a:ext cx="599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BE56772-894B-D841-B1F7-F7D900972C7A}" type="slidenum">
              <a:rPr kumimoji="1" lang="zh-CN" altLang="en-US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9</a:t>
            </a:fld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5F7D00-7505-D2BD-33C4-6B013DCF853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6891" b="14631"/>
          <a:stretch/>
        </p:blipFill>
        <p:spPr>
          <a:xfrm>
            <a:off x="399862" y="4293219"/>
            <a:ext cx="5386371" cy="172609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31096E3-E73F-6F33-1F81-3336D562524E}"/>
              </a:ext>
            </a:extLst>
          </p:cNvPr>
          <p:cNvSpPr txBox="1"/>
          <p:nvPr/>
        </p:nvSpPr>
        <p:spPr>
          <a:xfrm>
            <a:off x="399862" y="3975980"/>
            <a:ext cx="28490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V_metro</a:t>
            </a:r>
            <a:r>
              <a:rPr kumimoji="1" lang="en-US" altLang="zh-CN" sz="1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-0.2*30 + -0.1*5 + 2*0 + 3*1 = -3.5</a:t>
            </a:r>
            <a:endParaRPr kumimoji="1" lang="zh-CN" altLang="en-US" sz="1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BD10658-0357-F221-222E-4887DE309B6A}"/>
                  </a:ext>
                </a:extLst>
              </p:cNvPr>
              <p:cNvSpPr txBox="1"/>
              <p:nvPr/>
            </p:nvSpPr>
            <p:spPr>
              <a:xfrm>
                <a:off x="2710105" y="6118102"/>
                <a:ext cx="3224131" cy="376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000" dirty="0" err="1">
                    <a:solidFill>
                      <a:srgbClr val="C00000"/>
                    </a:solidFill>
                    <a:cs typeface="Arial" panose="020B0604020202020204" pitchFamily="34" charset="0"/>
                  </a:rPr>
                  <a:t>P_metro</a:t>
                </a:r>
                <a:r>
                  <a:rPr kumimoji="1" lang="en-US" altLang="zh-CN" sz="1000" dirty="0">
                    <a:solidFill>
                      <a:srgbClr val="C00000"/>
                    </a:solidFill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1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kumimoji="1" lang="en-US" altLang="zh-CN" sz="10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exp</m:t>
                        </m:r>
                        <m:r>
                          <m:rPr>
                            <m:nor/>
                          </m:rPr>
                          <a:rPr kumimoji="1" lang="en-US" altLang="zh-CN" sz="10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(−3.5)</m:t>
                        </m:r>
                      </m:num>
                      <m:den>
                        <m:r>
                          <m:rPr>
                            <m:nor/>
                          </m:rPr>
                          <a:rPr kumimoji="1" lang="en-US" altLang="zh-CN" sz="10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exp</m:t>
                        </m:r>
                        <m:r>
                          <m:rPr>
                            <m:nor/>
                          </m:rPr>
                          <a:rPr kumimoji="1" lang="en-US" altLang="zh-CN" sz="10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(−4.2)</m:t>
                        </m:r>
                        <m:r>
                          <a:rPr kumimoji="1" lang="en-US" altLang="zh-CN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kumimoji="1" lang="en-US" altLang="zh-CN" sz="10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exp</m:t>
                        </m:r>
                        <m:r>
                          <m:rPr>
                            <m:nor/>
                          </m:rPr>
                          <a:rPr kumimoji="1" lang="en-US" altLang="zh-CN" sz="10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(−7)</m:t>
                        </m:r>
                        <m:r>
                          <a:rPr kumimoji="1" lang="en-US" altLang="zh-CN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kumimoji="1" lang="en-US" altLang="zh-CN" sz="10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exp</m:t>
                        </m:r>
                        <m:r>
                          <m:rPr>
                            <m:nor/>
                          </m:rPr>
                          <a:rPr kumimoji="1" lang="en-US" altLang="zh-CN" sz="10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(−3.5)</m:t>
                        </m:r>
                      </m:den>
                    </m:f>
                  </m:oMath>
                </a14:m>
                <a:r>
                  <a:rPr kumimoji="1" lang="en-US" altLang="zh-CN" sz="10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65.65%</a:t>
                </a:r>
                <a:endParaRPr kumimoji="1" lang="zh-CN" altLang="en-US" sz="10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BD10658-0357-F221-222E-4887DE309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0105" y="6118102"/>
                <a:ext cx="3224131" cy="376834"/>
              </a:xfrm>
              <a:prstGeom prst="rect">
                <a:avLst/>
              </a:prstGeom>
              <a:blipFill>
                <a:blip r:embed="rId7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" name="Picture 39">
            <a:extLst>
              <a:ext uri="{FF2B5EF4-FFF2-40B4-BE49-F238E27FC236}">
                <a16:creationId xmlns:a16="http://schemas.microsoft.com/office/drawing/2014/main" id="{79492E91-45E1-4563-B036-7114F558124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765" y="3658386"/>
            <a:ext cx="5274310" cy="2980690"/>
          </a:xfrm>
          <a:prstGeom prst="rect">
            <a:avLst/>
          </a:prstGeom>
          <a:noFill/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F87CB10E-1C6B-9C82-C43C-2F34B10AB405}"/>
              </a:ext>
            </a:extLst>
          </p:cNvPr>
          <p:cNvSpPr/>
          <p:nvPr/>
        </p:nvSpPr>
        <p:spPr>
          <a:xfrm>
            <a:off x="9615949" y="4983024"/>
            <a:ext cx="724420" cy="35295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CA4E728-AADB-FAED-7A67-797CC0581D49}"/>
              </a:ext>
            </a:extLst>
          </p:cNvPr>
          <p:cNvSpPr/>
          <p:nvPr/>
        </p:nvSpPr>
        <p:spPr>
          <a:xfrm>
            <a:off x="7344697" y="5666366"/>
            <a:ext cx="724420" cy="35295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F120CCC-A922-5E55-F0D1-0AFBE971B7C5}"/>
              </a:ext>
            </a:extLst>
          </p:cNvPr>
          <p:cNvSpPr/>
          <p:nvPr/>
        </p:nvSpPr>
        <p:spPr>
          <a:xfrm>
            <a:off x="3988461" y="4488543"/>
            <a:ext cx="206828" cy="12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1E4CED3-5BD6-3CA9-C32E-A3DF83CEE1ED}"/>
              </a:ext>
            </a:extLst>
          </p:cNvPr>
          <p:cNvSpPr/>
          <p:nvPr/>
        </p:nvSpPr>
        <p:spPr>
          <a:xfrm>
            <a:off x="3988461" y="4633685"/>
            <a:ext cx="206828" cy="12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C97502C-6E1E-A6E5-5D63-30628CE3C83E}"/>
              </a:ext>
            </a:extLst>
          </p:cNvPr>
          <p:cNvSpPr/>
          <p:nvPr/>
        </p:nvSpPr>
        <p:spPr>
          <a:xfrm>
            <a:off x="3988461" y="4793342"/>
            <a:ext cx="206828" cy="12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B7EB481-3A9D-F052-2573-9C90B5AD1E2C}"/>
              </a:ext>
            </a:extLst>
          </p:cNvPr>
          <p:cNvSpPr/>
          <p:nvPr/>
        </p:nvSpPr>
        <p:spPr>
          <a:xfrm>
            <a:off x="3988461" y="4964880"/>
            <a:ext cx="206828" cy="12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7755F35-F6F9-7E15-1B05-BF064B56223E}"/>
                  </a:ext>
                </a:extLst>
              </p:cNvPr>
              <p:cNvSpPr txBox="1"/>
              <p:nvPr/>
            </p:nvSpPr>
            <p:spPr>
              <a:xfrm>
                <a:off x="4016011" y="4422734"/>
                <a:ext cx="25729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7755F35-F6F9-7E15-1B05-BF064B562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6011" y="4422734"/>
                <a:ext cx="257291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438F96F-F215-7C25-C07D-53A2985076BC}"/>
                  </a:ext>
                </a:extLst>
              </p:cNvPr>
              <p:cNvSpPr txBox="1"/>
              <p:nvPr/>
            </p:nvSpPr>
            <p:spPr>
              <a:xfrm>
                <a:off x="4016011" y="4581514"/>
                <a:ext cx="25729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438F96F-F215-7C25-C07D-53A298507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6011" y="4581514"/>
                <a:ext cx="257291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D1635D1-A64E-B659-5B66-081E7C26468E}"/>
                  </a:ext>
                </a:extLst>
              </p:cNvPr>
              <p:cNvSpPr txBox="1"/>
              <p:nvPr/>
            </p:nvSpPr>
            <p:spPr>
              <a:xfrm>
                <a:off x="4016011" y="4726037"/>
                <a:ext cx="25729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D1635D1-A64E-B659-5B66-081E7C264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6011" y="4726037"/>
                <a:ext cx="257291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95F9E3A-18E2-BCC8-10FB-09B05FBF41BD}"/>
                  </a:ext>
                </a:extLst>
              </p:cNvPr>
              <p:cNvSpPr txBox="1"/>
              <p:nvPr/>
            </p:nvSpPr>
            <p:spPr>
              <a:xfrm>
                <a:off x="4016011" y="4883891"/>
                <a:ext cx="25729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95F9E3A-18E2-BCC8-10FB-09B05FBF4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6011" y="4883891"/>
                <a:ext cx="257291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Left Brace 2">
            <a:extLst>
              <a:ext uri="{FF2B5EF4-FFF2-40B4-BE49-F238E27FC236}">
                <a16:creationId xmlns:a16="http://schemas.microsoft.com/office/drawing/2014/main" id="{47F97CFE-38AB-DC53-D158-D93390C2FD60}"/>
              </a:ext>
            </a:extLst>
          </p:cNvPr>
          <p:cNvSpPr/>
          <p:nvPr/>
        </p:nvSpPr>
        <p:spPr>
          <a:xfrm flipH="1">
            <a:off x="1202945" y="4684344"/>
            <a:ext cx="206828" cy="547614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1BD942-B60E-973D-7BEF-832BF8F3506A}"/>
              </a:ext>
            </a:extLst>
          </p:cNvPr>
          <p:cNvSpPr txBox="1"/>
          <p:nvPr/>
        </p:nvSpPr>
        <p:spPr>
          <a:xfrm>
            <a:off x="1346115" y="4856842"/>
            <a:ext cx="12288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  <a:endParaRPr kumimoji="1" lang="zh-CN" altLang="en-US" sz="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925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FC0F3B2-A2C0-3EA1-750E-5C37CC0CC05D}"/>
              </a:ext>
            </a:extLst>
          </p:cNvPr>
          <p:cNvSpPr/>
          <p:nvPr/>
        </p:nvSpPr>
        <p:spPr>
          <a:xfrm>
            <a:off x="-1" y="0"/>
            <a:ext cx="12204338" cy="113929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Google Shape;88;p17">
            <a:extLst>
              <a:ext uri="{FF2B5EF4-FFF2-40B4-BE49-F238E27FC236}">
                <a16:creationId xmlns:a16="http://schemas.microsoft.com/office/drawing/2014/main" id="{9881DBDD-B2A2-E7E4-B026-1A1310A10F3B}"/>
              </a:ext>
            </a:extLst>
          </p:cNvPr>
          <p:cNvSpPr txBox="1">
            <a:spLocks/>
          </p:cNvSpPr>
          <p:nvPr/>
        </p:nvSpPr>
        <p:spPr>
          <a:xfrm>
            <a:off x="223540" y="264549"/>
            <a:ext cx="10993437" cy="80567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Data-driven DCMs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73CF37-9512-5F17-D3ED-EB3FD7F3F5B8}"/>
              </a:ext>
            </a:extLst>
          </p:cNvPr>
          <p:cNvSpPr txBox="1"/>
          <p:nvPr/>
        </p:nvSpPr>
        <p:spPr>
          <a:xfrm>
            <a:off x="270035" y="1403843"/>
            <a:ext cx="7874585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Multinominal Logit (MNL) and Mixed Logit (MXL)</a:t>
            </a:r>
            <a:endParaRPr lang="zh-CN" altLang="en-US" sz="18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2829E0C-28ED-B1DE-9848-C6447AA5A769}"/>
                  </a:ext>
                </a:extLst>
              </p:cNvPr>
              <p:cNvSpPr txBox="1"/>
              <p:nvPr/>
            </p:nvSpPr>
            <p:spPr>
              <a:xfrm>
                <a:off x="270034" y="1878783"/>
                <a:ext cx="11206399" cy="9282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7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value of </a:t>
                </a:r>
                <a14:m>
                  <m:oMath xmlns:m="http://schemas.openxmlformats.org/officeDocument/2006/math">
                    <m:r>
                      <a:rPr lang="en-US" altLang="zh-CN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7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the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rgbClr val="2A2B2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>
                            <a:solidFill>
                              <a:srgbClr val="2A2B2D"/>
                            </a:solidFill>
                            <a:latin typeface="Cambria Math" panose="02040503050406030204" pitchFamily="18" charset="0"/>
                            <a:sym typeface="Symbol" pitchFamily="2" charset="2"/>
                          </a:rPr>
                          <m:t></m:t>
                        </m:r>
                      </m:e>
                      <m:sub>
                        <m:r>
                          <a:rPr lang="en-US" sz="1700">
                            <a:solidFill>
                              <a:srgbClr val="2A2B2D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CN" sz="17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determine how we calculate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7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zh-CN" altLang="en-US" sz="1700" i="1"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sSupPr>
                            <m:ctrlPr>
                              <a:rPr lang="en-US" altLang="zh-CN" sz="17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17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altLang="zh-CN" sz="17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altLang="zh-CN" sz="17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7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Assuming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rgbClr val="2A2B2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>
                            <a:solidFill>
                              <a:srgbClr val="2A2B2D"/>
                            </a:solidFill>
                            <a:latin typeface="Cambria Math" panose="02040503050406030204" pitchFamily="18" charset="0"/>
                            <a:sym typeface="Symbol" pitchFamily="2" charset="2"/>
                          </a:rPr>
                          <m:t></m:t>
                        </m:r>
                      </m:e>
                      <m:sub>
                        <m:r>
                          <a:rPr lang="en-US" sz="1700">
                            <a:solidFill>
                              <a:srgbClr val="2A2B2D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CN" sz="17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be </a:t>
                </a:r>
                <a:r>
                  <a:rPr lang="en-US" altLang="zh-CN" sz="1700" b="1" dirty="0">
                    <a:solidFill>
                      <a:srgbClr val="C65A1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Gumbel distributed </a:t>
                </a:r>
                <a:r>
                  <a:rPr lang="en-US" altLang="zh-CN" sz="17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results in logit models. Assuming </a:t>
                </a:r>
                <a14:m>
                  <m:oMath xmlns:m="http://schemas.openxmlformats.org/officeDocument/2006/math">
                    <m:r>
                      <a:rPr lang="en-US" altLang="zh-CN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CN" sz="17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be </a:t>
                </a:r>
                <a:r>
                  <a:rPr lang="en-US" altLang="zh-CN" sz="1700" b="1" dirty="0">
                    <a:solidFill>
                      <a:srgbClr val="C65A1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fixed values </a:t>
                </a:r>
                <a:r>
                  <a:rPr lang="en-US" altLang="zh-CN" sz="17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results in MNL model. Assuming </a:t>
                </a:r>
                <a14:m>
                  <m:oMath xmlns:m="http://schemas.openxmlformats.org/officeDocument/2006/math">
                    <m:r>
                      <a:rPr lang="en-US" altLang="zh-CN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CN" sz="17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be a </a:t>
                </a:r>
                <a:r>
                  <a:rPr lang="en-US" altLang="zh-CN" sz="1700" b="1" dirty="0">
                    <a:solidFill>
                      <a:srgbClr val="C65A1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parametric distribution </a:t>
                </a:r>
                <a:r>
                  <a:rPr lang="en-US" altLang="zh-CN" sz="1700" dirty="0">
                    <a:solidFill>
                      <a:srgbClr val="2A2B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(e.g., normal, uniform, triangular) results in MXL model </a:t>
                </a:r>
                <a:endParaRPr lang="zh-CN" altLang="en-US" sz="1700" i="1" dirty="0">
                  <a:solidFill>
                    <a:srgbClr val="2A2B2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2829E0C-28ED-B1DE-9848-C6447AA5A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034" y="1878783"/>
                <a:ext cx="11206399" cy="928267"/>
              </a:xfrm>
              <a:prstGeom prst="rect">
                <a:avLst/>
              </a:prstGeom>
              <a:blipFill>
                <a:blip r:embed="rId3"/>
                <a:stretch>
                  <a:fillRect l="-340" t="-2703" b="-8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2943D13-E244-FF8C-24F0-C6730DA17727}"/>
                  </a:ext>
                </a:extLst>
              </p:cNvPr>
              <p:cNvSpPr txBox="1"/>
              <p:nvPr/>
            </p:nvSpPr>
            <p:spPr>
              <a:xfrm>
                <a:off x="1523749" y="2884144"/>
                <a:ext cx="2249318" cy="8097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p>
                            <m:sSupPr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p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2943D13-E244-FF8C-24F0-C6730DA17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3749" y="2884144"/>
                <a:ext cx="2249318" cy="809773"/>
              </a:xfrm>
              <a:prstGeom prst="rect">
                <a:avLst/>
              </a:prstGeom>
              <a:blipFill>
                <a:blip r:embed="rId4"/>
                <a:stretch>
                  <a:fillRect t="-3125" b="-734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74DEEFE-EAE3-3481-D64F-78D87FB29604}"/>
                  </a:ext>
                </a:extLst>
              </p:cNvPr>
              <p:cNvSpPr txBox="1"/>
              <p:nvPr/>
            </p:nvSpPr>
            <p:spPr>
              <a:xfrm>
                <a:off x="6257765" y="2884144"/>
                <a:ext cx="3431276" cy="852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p>
                            <m:sSupPr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p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</m:sub>
                                  </m:sSub>
                                </m:sup>
                              </m:sSup>
                            </m:num>
                            <m:den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𝐽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den>
                          </m:f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>
                              <a:latin typeface="Cambria Math" panose="02040503050406030204" pitchFamily="18" charset="0"/>
                              <a:sym typeface="Symbol" pitchFamily="2" charset="2"/>
                            </a:rPr>
                            <m:t>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74DEEFE-EAE3-3481-D64F-78D87FB29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7765" y="2884144"/>
                <a:ext cx="3431276" cy="852221"/>
              </a:xfrm>
              <a:prstGeom prst="rect">
                <a:avLst/>
              </a:prstGeom>
              <a:blipFill>
                <a:blip r:embed="rId5"/>
                <a:stretch>
                  <a:fillRect l="-6642" t="-123529" b="-180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F26124AF-E5E7-28E7-4721-6B4405F0AB64}"/>
              </a:ext>
            </a:extLst>
          </p:cNvPr>
          <p:cNvSpPr txBox="1"/>
          <p:nvPr/>
        </p:nvSpPr>
        <p:spPr>
          <a:xfrm>
            <a:off x="3520605" y="3160534"/>
            <a:ext cx="16515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 dirty="0">
                <a:solidFill>
                  <a:srgbClr val="C65A11"/>
                </a:solidFill>
              </a:rPr>
              <a:t>MNL form</a:t>
            </a:r>
            <a:endParaRPr lang="zh-CN" altLang="en-US" sz="1600" dirty="0">
              <a:solidFill>
                <a:srgbClr val="C65A1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0FFF10-2715-BC35-8930-6B48B76B2777}"/>
              </a:ext>
            </a:extLst>
          </p:cNvPr>
          <p:cNvSpPr txBox="1"/>
          <p:nvPr/>
        </p:nvSpPr>
        <p:spPr>
          <a:xfrm>
            <a:off x="9689041" y="3160534"/>
            <a:ext cx="16515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 dirty="0">
                <a:solidFill>
                  <a:srgbClr val="C65A11"/>
                </a:solidFill>
              </a:rPr>
              <a:t>MXL form</a:t>
            </a:r>
            <a:endParaRPr lang="zh-CN" altLang="en-US" sz="1600" dirty="0">
              <a:solidFill>
                <a:srgbClr val="C65A1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5F7D00-7505-D2BD-33C4-6B013DCF85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887" y="4141636"/>
            <a:ext cx="5386371" cy="219949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31096E3-E73F-6F33-1F81-3336D562524E}"/>
              </a:ext>
            </a:extLst>
          </p:cNvPr>
          <p:cNvSpPr txBox="1"/>
          <p:nvPr/>
        </p:nvSpPr>
        <p:spPr>
          <a:xfrm>
            <a:off x="1505408" y="5221447"/>
            <a:ext cx="228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9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-0.2*30 + -0.1*5 + 2*0 + 3*1 = -3.5</a:t>
            </a:r>
            <a:endParaRPr kumimoji="1" lang="zh-CN" altLang="en-US" sz="9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BD10658-0357-F221-222E-4887DE309B6A}"/>
                  </a:ext>
                </a:extLst>
              </p:cNvPr>
              <p:cNvSpPr txBox="1"/>
              <p:nvPr/>
            </p:nvSpPr>
            <p:spPr>
              <a:xfrm>
                <a:off x="3434258" y="5572859"/>
                <a:ext cx="2286000" cy="3483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9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kumimoji="1" lang="en-US" altLang="zh-CN" sz="9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exp</m:t>
                        </m:r>
                        <m:r>
                          <m:rPr>
                            <m:nor/>
                          </m:rPr>
                          <a:rPr kumimoji="1" lang="en-US" altLang="zh-CN" sz="9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(−3.5)</m:t>
                        </m:r>
                      </m:num>
                      <m:den>
                        <m:r>
                          <m:rPr>
                            <m:nor/>
                          </m:rPr>
                          <a:rPr kumimoji="1" lang="en-US" altLang="zh-CN" sz="9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exp</m:t>
                        </m:r>
                        <m:r>
                          <m:rPr>
                            <m:nor/>
                          </m:rPr>
                          <a:rPr kumimoji="1" lang="en-US" altLang="zh-CN" sz="9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(−4.2)</m:t>
                        </m:r>
                        <m:r>
                          <a:rPr kumimoji="1" lang="en-US" altLang="zh-CN" sz="9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kumimoji="1" lang="en-US" altLang="zh-CN" sz="9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exp</m:t>
                        </m:r>
                        <m:r>
                          <m:rPr>
                            <m:nor/>
                          </m:rPr>
                          <a:rPr kumimoji="1" lang="en-US" altLang="zh-CN" sz="9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(−7)</m:t>
                        </m:r>
                        <m:r>
                          <a:rPr kumimoji="1" lang="en-US" altLang="zh-CN" sz="9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kumimoji="1" lang="en-US" altLang="zh-CN" sz="9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exp</m:t>
                        </m:r>
                        <m:r>
                          <m:rPr>
                            <m:nor/>
                          </m:rPr>
                          <a:rPr kumimoji="1" lang="en-US" altLang="zh-CN" sz="9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(−3.5)</m:t>
                        </m:r>
                      </m:den>
                    </m:f>
                  </m:oMath>
                </a14:m>
                <a:r>
                  <a:rPr kumimoji="1" lang="en-US" altLang="zh-CN" sz="9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0.655</a:t>
                </a:r>
                <a:endParaRPr kumimoji="1" lang="zh-CN" altLang="en-US" sz="9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BD10658-0357-F221-222E-4887DE309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4258" y="5572859"/>
                <a:ext cx="2286000" cy="3483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" name="Picture 39">
            <a:extLst>
              <a:ext uri="{FF2B5EF4-FFF2-40B4-BE49-F238E27FC236}">
                <a16:creationId xmlns:a16="http://schemas.microsoft.com/office/drawing/2014/main" id="{79492E91-45E1-4563-B036-7114F558124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765" y="3658386"/>
            <a:ext cx="5274310" cy="2980690"/>
          </a:xfrm>
          <a:prstGeom prst="rect">
            <a:avLst/>
          </a:prstGeom>
          <a:noFill/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F87CB10E-1C6B-9C82-C43C-2F34B10AB405}"/>
              </a:ext>
            </a:extLst>
          </p:cNvPr>
          <p:cNvSpPr/>
          <p:nvPr/>
        </p:nvSpPr>
        <p:spPr>
          <a:xfrm>
            <a:off x="9615949" y="4983024"/>
            <a:ext cx="724420" cy="35295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CA4E728-AADB-FAED-7A67-797CC0581D49}"/>
              </a:ext>
            </a:extLst>
          </p:cNvPr>
          <p:cNvSpPr/>
          <p:nvPr/>
        </p:nvSpPr>
        <p:spPr>
          <a:xfrm>
            <a:off x="7344697" y="5666366"/>
            <a:ext cx="724420" cy="35295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7D5FD8-6A9C-EA91-8B4A-A0FCC404E8E2}"/>
              </a:ext>
            </a:extLst>
          </p:cNvPr>
          <p:cNvSpPr/>
          <p:nvPr/>
        </p:nvSpPr>
        <p:spPr>
          <a:xfrm>
            <a:off x="270034" y="1308295"/>
            <a:ext cx="11751977" cy="5285156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A6C039-ACC5-D82E-C196-0B8607A5BAFB}"/>
              </a:ext>
            </a:extLst>
          </p:cNvPr>
          <p:cNvSpPr txBox="1"/>
          <p:nvPr/>
        </p:nvSpPr>
        <p:spPr>
          <a:xfrm>
            <a:off x="1382366" y="1937472"/>
            <a:ext cx="102572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rgbClr val="C6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if we have large ICT datasets for travel behavior modeling?</a:t>
            </a:r>
            <a:endParaRPr lang="en-US" sz="2400" b="1" i="0" dirty="0">
              <a:solidFill>
                <a:srgbClr val="C65A1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78B383-F575-19FB-0E3A-71F503FC0E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 bwMode="auto">
          <a:xfrm>
            <a:off x="1470536" y="2672912"/>
            <a:ext cx="9085075" cy="33124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216DD8-CA62-D601-3C8C-900596E5FD86}"/>
              </a:ext>
            </a:extLst>
          </p:cNvPr>
          <p:cNvSpPr txBox="1"/>
          <p:nvPr/>
        </p:nvSpPr>
        <p:spPr>
          <a:xfrm>
            <a:off x="11499540" y="6491235"/>
            <a:ext cx="599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BE56772-894B-D841-B1F7-F7D900972C7A}" type="slidenum">
              <a:rPr kumimoji="1" lang="zh-CN" altLang="en-US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10</a:t>
            </a:fld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69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514E20-478F-D6E4-45D1-896849831675}"/>
              </a:ext>
            </a:extLst>
          </p:cNvPr>
          <p:cNvSpPr/>
          <p:nvPr/>
        </p:nvSpPr>
        <p:spPr>
          <a:xfrm>
            <a:off x="-1" y="0"/>
            <a:ext cx="12204338" cy="113929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Shape;88;p17">
            <a:extLst>
              <a:ext uri="{FF2B5EF4-FFF2-40B4-BE49-F238E27FC236}">
                <a16:creationId xmlns:a16="http://schemas.microsoft.com/office/drawing/2014/main" id="{0F228211-6D30-37C9-4F27-5318C267CFA9}"/>
              </a:ext>
            </a:extLst>
          </p:cNvPr>
          <p:cNvSpPr txBox="1">
            <a:spLocks/>
          </p:cNvSpPr>
          <p:nvPr/>
        </p:nvSpPr>
        <p:spPr>
          <a:xfrm>
            <a:off x="392739" y="264549"/>
            <a:ext cx="11197934" cy="80567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Agent-based Mixed Logit (AMXL)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5FD290-45C5-D2C1-3CDC-EA72B70F7DEB}"/>
              </a:ext>
            </a:extLst>
          </p:cNvPr>
          <p:cNvSpPr txBox="1"/>
          <p:nvPr/>
        </p:nvSpPr>
        <p:spPr>
          <a:xfrm>
            <a:off x="11499540" y="6491235"/>
            <a:ext cx="599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BE56772-894B-D841-B1F7-F7D900972C7A}" type="slidenum">
              <a:rPr kumimoji="1" lang="zh-CN" altLang="en-US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11</a:t>
            </a:fld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96D714-3214-B1F4-4E89-C674E53F7EA1}"/>
              </a:ext>
            </a:extLst>
          </p:cNvPr>
          <p:cNvGrpSpPr/>
          <p:nvPr/>
        </p:nvGrpSpPr>
        <p:grpSpPr>
          <a:xfrm>
            <a:off x="392739" y="2269099"/>
            <a:ext cx="11440912" cy="3788765"/>
            <a:chOff x="358348" y="2702470"/>
            <a:chExt cx="11440912" cy="3788765"/>
          </a:xfrm>
        </p:grpSpPr>
        <p:pic>
          <p:nvPicPr>
            <p:cNvPr id="10" name="Picture 9" descr="A diagram of a model&#10;&#10;Description automatically generated">
              <a:extLst>
                <a:ext uri="{FF2B5EF4-FFF2-40B4-BE49-F238E27FC236}">
                  <a16:creationId xmlns:a16="http://schemas.microsoft.com/office/drawing/2014/main" id="{F18CE210-00F4-2603-B8C9-C9166E0C64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8348" y="2702470"/>
              <a:ext cx="11440912" cy="3788765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386702F-5DEC-43B9-7810-E7113CB5B018}"/>
                </a:ext>
              </a:extLst>
            </p:cNvPr>
            <p:cNvCxnSpPr/>
            <p:nvPr/>
          </p:nvCxnSpPr>
          <p:spPr>
            <a:xfrm>
              <a:off x="7217380" y="4444238"/>
              <a:ext cx="6804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004CD81-475C-8E68-CC24-25A47095225B}"/>
                </a:ext>
              </a:extLst>
            </p:cNvPr>
            <p:cNvCxnSpPr/>
            <p:nvPr/>
          </p:nvCxnSpPr>
          <p:spPr>
            <a:xfrm>
              <a:off x="7741255" y="4444238"/>
              <a:ext cx="6804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64E49A6-9D02-C82E-40CB-BC9C46C48B20}"/>
                </a:ext>
              </a:extLst>
            </p:cNvPr>
            <p:cNvCxnSpPr>
              <a:cxnSpLocks/>
            </p:cNvCxnSpPr>
            <p:nvPr/>
          </p:nvCxnSpPr>
          <p:spPr>
            <a:xfrm>
              <a:off x="8265130" y="4453763"/>
              <a:ext cx="25022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2DC4D6D-EAC8-1356-B97F-74F6010D8541}"/>
                </a:ext>
              </a:extLst>
            </p:cNvPr>
            <p:cNvCxnSpPr>
              <a:cxnSpLocks/>
            </p:cNvCxnSpPr>
            <p:nvPr/>
          </p:nvCxnSpPr>
          <p:spPr>
            <a:xfrm>
              <a:off x="8970249" y="4453763"/>
              <a:ext cx="25022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197588F1-E830-2671-6B37-71A7F3684381}"/>
              </a:ext>
            </a:extLst>
          </p:cNvPr>
          <p:cNvSpPr/>
          <p:nvPr/>
        </p:nvSpPr>
        <p:spPr>
          <a:xfrm>
            <a:off x="6727422" y="3283973"/>
            <a:ext cx="592398" cy="90497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F4AE17-58F6-3C95-ABEC-212926529587}"/>
              </a:ext>
            </a:extLst>
          </p:cNvPr>
          <p:cNvSpPr/>
          <p:nvPr/>
        </p:nvSpPr>
        <p:spPr>
          <a:xfrm>
            <a:off x="2025017" y="3208557"/>
            <a:ext cx="1648119" cy="39895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A035F04C-8734-AE44-F2DF-3E8A445CC4FE}"/>
              </a:ext>
            </a:extLst>
          </p:cNvPr>
          <p:cNvCxnSpPr>
            <a:endCxn id="15" idx="1"/>
          </p:cNvCxnSpPr>
          <p:nvPr/>
        </p:nvCxnSpPr>
        <p:spPr>
          <a:xfrm>
            <a:off x="3682564" y="3368814"/>
            <a:ext cx="3044858" cy="367646"/>
          </a:xfrm>
          <a:prstGeom prst="bentConnector3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5363098-0110-C21C-3239-76283CB57E1F}"/>
              </a:ext>
            </a:extLst>
          </p:cNvPr>
          <p:cNvSpPr/>
          <p:nvPr/>
        </p:nvSpPr>
        <p:spPr>
          <a:xfrm>
            <a:off x="2268544" y="4299043"/>
            <a:ext cx="1178350" cy="39895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76E294-449D-2880-BB0C-4016B0452BBA}"/>
              </a:ext>
            </a:extLst>
          </p:cNvPr>
          <p:cNvSpPr/>
          <p:nvPr/>
        </p:nvSpPr>
        <p:spPr>
          <a:xfrm>
            <a:off x="7319820" y="4360013"/>
            <a:ext cx="2009400" cy="35683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1FB5454E-C55E-699E-E3D6-990A73DA4EF4}"/>
              </a:ext>
            </a:extLst>
          </p:cNvPr>
          <p:cNvCxnSpPr>
            <a:cxnSpLocks/>
          </p:cNvCxnSpPr>
          <p:nvPr/>
        </p:nvCxnSpPr>
        <p:spPr>
          <a:xfrm>
            <a:off x="3446894" y="4500031"/>
            <a:ext cx="3872926" cy="46936"/>
          </a:xfrm>
          <a:prstGeom prst="bentConnector3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7CBCF4C-0295-D65C-699E-7A9ADA59E1BA}"/>
              </a:ext>
            </a:extLst>
          </p:cNvPr>
          <p:cNvSpPr/>
          <p:nvPr/>
        </p:nvSpPr>
        <p:spPr>
          <a:xfrm>
            <a:off x="8159819" y="5484300"/>
            <a:ext cx="1169401" cy="35683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B39675-49B7-C033-C7C6-F1533BB881B0}"/>
              </a:ext>
            </a:extLst>
          </p:cNvPr>
          <p:cNvSpPr/>
          <p:nvPr/>
        </p:nvSpPr>
        <p:spPr>
          <a:xfrm>
            <a:off x="2754442" y="5484300"/>
            <a:ext cx="1169401" cy="35683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56EFE8BA-F076-B21D-AD84-05C235121B1F}"/>
              </a:ext>
            </a:extLst>
          </p:cNvPr>
          <p:cNvCxnSpPr>
            <a:cxnSpLocks/>
            <a:stCxn id="22" idx="3"/>
            <a:endCxn id="21" idx="1"/>
          </p:cNvCxnSpPr>
          <p:nvPr/>
        </p:nvCxnSpPr>
        <p:spPr>
          <a:xfrm>
            <a:off x="3923843" y="5662718"/>
            <a:ext cx="4235976" cy="12700"/>
          </a:xfrm>
          <a:prstGeom prst="bentConnector3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97FC612-F089-57CC-DE70-B26C36B3064F}"/>
              </a:ext>
            </a:extLst>
          </p:cNvPr>
          <p:cNvSpPr txBox="1"/>
          <p:nvPr/>
        </p:nvSpPr>
        <p:spPr>
          <a:xfrm>
            <a:off x="358348" y="1455726"/>
            <a:ext cx="117406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A2B2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AMXL is a variant of MXL, using </a:t>
            </a:r>
            <a:r>
              <a:rPr lang="en-US" sz="1700" b="1" dirty="0">
                <a:solidFill>
                  <a:srgbClr val="C6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hybrid machine learning/econometric </a:t>
            </a:r>
            <a:r>
              <a:rPr lang="en-US" b="0" i="0" dirty="0">
                <a:solidFill>
                  <a:srgbClr val="2A2B2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algorithms to </a:t>
            </a:r>
            <a:r>
              <a:rPr lang="en-US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nonparametrically estimate taste parameters for each agent based on a large data set 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0B0F3D-B1C5-1EBD-1B3C-EF9EE3A32524}"/>
              </a:ext>
            </a:extLst>
          </p:cNvPr>
          <p:cNvSpPr txBox="1"/>
          <p:nvPr/>
        </p:nvSpPr>
        <p:spPr>
          <a:xfrm>
            <a:off x="-102235" y="6119570"/>
            <a:ext cx="11935886" cy="539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5488" lvl="1">
              <a:lnSpc>
                <a:spcPct val="140036"/>
              </a:lnSpc>
              <a:buSzPts val="1466"/>
            </a:pPr>
            <a:r>
              <a:rPr lang="en-US" sz="1100" b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Ren, X., &amp; Chow, J. Y. (2022). A random-utility-consistent machine learning method to estimate agents’ joint activity scheduling choice from a ubiquitous data set. </a:t>
            </a:r>
            <a:r>
              <a:rPr lang="en-US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Transportation Research Part B: Methodological</a:t>
            </a:r>
            <a:r>
              <a:rPr lang="en-US" sz="1100" b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166, 396-418.</a:t>
            </a:r>
            <a:endParaRPr lang="en-US" altLang="zh-CN" sz="1100" dirty="0"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60604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514E20-478F-D6E4-45D1-896849831675}"/>
              </a:ext>
            </a:extLst>
          </p:cNvPr>
          <p:cNvSpPr/>
          <p:nvPr/>
        </p:nvSpPr>
        <p:spPr>
          <a:xfrm>
            <a:off x="-1" y="0"/>
            <a:ext cx="12204338" cy="113929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Shape;88;p17">
            <a:extLst>
              <a:ext uri="{FF2B5EF4-FFF2-40B4-BE49-F238E27FC236}">
                <a16:creationId xmlns:a16="http://schemas.microsoft.com/office/drawing/2014/main" id="{0F228211-6D30-37C9-4F27-5318C267CFA9}"/>
              </a:ext>
            </a:extLst>
          </p:cNvPr>
          <p:cNvSpPr txBox="1">
            <a:spLocks/>
          </p:cNvSpPr>
          <p:nvPr/>
        </p:nvSpPr>
        <p:spPr>
          <a:xfrm>
            <a:off x="392739" y="264549"/>
            <a:ext cx="11197934" cy="80567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Agent-based Mixed Logit (AMXL)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5FD290-45C5-D2C1-3CDC-EA72B70F7DEB}"/>
              </a:ext>
            </a:extLst>
          </p:cNvPr>
          <p:cNvSpPr txBox="1"/>
          <p:nvPr/>
        </p:nvSpPr>
        <p:spPr>
          <a:xfrm>
            <a:off x="11499540" y="6491235"/>
            <a:ext cx="599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BE56772-894B-D841-B1F7-F7D900972C7A}" type="slidenum">
              <a:rPr kumimoji="1" lang="zh-CN" altLang="en-US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12</a:t>
            </a:fld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CA7566-F017-1C8C-9028-2AA99326DBC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50" b="15302"/>
          <a:stretch/>
        </p:blipFill>
        <p:spPr>
          <a:xfrm>
            <a:off x="3840294" y="3429000"/>
            <a:ext cx="7958966" cy="29810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5585BF-51E3-92D4-5015-0D1E23FF02C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048" b="17534"/>
          <a:stretch/>
        </p:blipFill>
        <p:spPr>
          <a:xfrm>
            <a:off x="392740" y="1595120"/>
            <a:ext cx="6445017" cy="1990040"/>
          </a:xfrm>
          <a:prstGeom prst="rect">
            <a:avLst/>
          </a:prstGeom>
        </p:spPr>
      </p:pic>
      <p:sp>
        <p:nvSpPr>
          <p:cNvPr id="11" name="Right Arrow 10">
            <a:extLst>
              <a:ext uri="{FF2B5EF4-FFF2-40B4-BE49-F238E27FC236}">
                <a16:creationId xmlns:a16="http://schemas.microsoft.com/office/drawing/2014/main" id="{47DA7F64-DDA4-AAF7-6202-E1C6A10D2160}"/>
              </a:ext>
            </a:extLst>
          </p:cNvPr>
          <p:cNvSpPr/>
          <p:nvPr/>
        </p:nvSpPr>
        <p:spPr>
          <a:xfrm rot="10800000">
            <a:off x="6985000" y="1887586"/>
            <a:ext cx="190500" cy="123190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815379-8507-2D27-A1B8-6BECD4884BCE}"/>
              </a:ext>
            </a:extLst>
          </p:cNvPr>
          <p:cNvSpPr txBox="1"/>
          <p:nvPr/>
        </p:nvSpPr>
        <p:spPr>
          <a:xfrm>
            <a:off x="7451476" y="2318870"/>
            <a:ext cx="1714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MNL &amp; MXL</a:t>
            </a:r>
            <a:endParaRPr kumimoji="1" lang="zh-CN" altLang="en-US" dirty="0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6AC89296-527B-4B57-0F0F-EA09C4DAC502}"/>
              </a:ext>
            </a:extLst>
          </p:cNvPr>
          <p:cNvSpPr/>
          <p:nvPr/>
        </p:nvSpPr>
        <p:spPr>
          <a:xfrm>
            <a:off x="3359194" y="4462264"/>
            <a:ext cx="190500" cy="123190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C9C4C1-3540-1D57-C52F-7D8E811EA953}"/>
              </a:ext>
            </a:extLst>
          </p:cNvPr>
          <p:cNvSpPr txBox="1"/>
          <p:nvPr/>
        </p:nvSpPr>
        <p:spPr>
          <a:xfrm>
            <a:off x="2267601" y="4893548"/>
            <a:ext cx="1714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AMXL</a:t>
            </a:r>
            <a:endParaRPr kumimoji="1" lang="zh-CN" alt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CF9580-FC60-9164-29AC-30241EFF4B28}"/>
              </a:ext>
            </a:extLst>
          </p:cNvPr>
          <p:cNvSpPr/>
          <p:nvPr/>
        </p:nvSpPr>
        <p:spPr>
          <a:xfrm>
            <a:off x="3840294" y="3585160"/>
            <a:ext cx="2255706" cy="170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1C776D-DD4C-E841-395D-17FE50A10ACD}"/>
              </a:ext>
            </a:extLst>
          </p:cNvPr>
          <p:cNvSpPr/>
          <p:nvPr/>
        </p:nvSpPr>
        <p:spPr>
          <a:xfrm>
            <a:off x="3025698" y="1517904"/>
            <a:ext cx="1052525" cy="2094688"/>
          </a:xfrm>
          <a:prstGeom prst="rect">
            <a:avLst/>
          </a:prstGeom>
          <a:noFill/>
          <a:ln w="25400">
            <a:solidFill>
              <a:srgbClr val="C6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X</a:t>
            </a:r>
            <a:endParaRPr kumimoji="1" lang="zh-CN" alt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51B4E6-A7A6-3900-DCC9-749CE88F8091}"/>
              </a:ext>
            </a:extLst>
          </p:cNvPr>
          <p:cNvSpPr/>
          <p:nvPr/>
        </p:nvSpPr>
        <p:spPr>
          <a:xfrm>
            <a:off x="4981563" y="3686456"/>
            <a:ext cx="779157" cy="2696119"/>
          </a:xfrm>
          <a:prstGeom prst="rect">
            <a:avLst/>
          </a:prstGeom>
          <a:noFill/>
          <a:ln w="25400">
            <a:solidFill>
              <a:srgbClr val="C6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X</a:t>
            </a:r>
            <a:endParaRPr kumimoji="1" lang="zh-CN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14D9DC-17F2-8A4A-C467-ABD7CA20186F}"/>
              </a:ext>
            </a:extLst>
          </p:cNvPr>
          <p:cNvSpPr txBox="1"/>
          <p:nvPr/>
        </p:nvSpPr>
        <p:spPr>
          <a:xfrm>
            <a:off x="334366" y="1322738"/>
            <a:ext cx="1714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Traveler A</a:t>
            </a:r>
            <a:endParaRPr kumimoji="1" lang="zh-CN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3DF801-AD98-F349-CB3D-AAB239827D36}"/>
              </a:ext>
            </a:extLst>
          </p:cNvPr>
          <p:cNvSpPr txBox="1"/>
          <p:nvPr/>
        </p:nvSpPr>
        <p:spPr>
          <a:xfrm>
            <a:off x="2965106" y="3856872"/>
            <a:ext cx="11131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Traveler B</a:t>
            </a:r>
            <a:endParaRPr kumimoji="1"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12342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8C2148E-4E76-154D-A4AF-5645D32DEFD5}"/>
              </a:ext>
            </a:extLst>
          </p:cNvPr>
          <p:cNvSpPr/>
          <p:nvPr/>
        </p:nvSpPr>
        <p:spPr>
          <a:xfrm>
            <a:off x="0" y="0"/>
            <a:ext cx="12226938" cy="685800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2737557" y="3082379"/>
            <a:ext cx="686567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Practical Part</a:t>
            </a:r>
            <a:endParaRPr lang="zh-CN" altLang="en-US" sz="4400" b="1" dirty="0">
              <a:solidFill>
                <a:schemeClr val="bg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C122A8-FA24-A44B-9AFA-699873847566}"/>
              </a:ext>
            </a:extLst>
          </p:cNvPr>
          <p:cNvSpPr/>
          <p:nvPr/>
        </p:nvSpPr>
        <p:spPr>
          <a:xfrm>
            <a:off x="666750" y="704850"/>
            <a:ext cx="10858500" cy="552450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2928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D6070E-A288-588E-0E1B-656F2C77D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104" y="2524432"/>
            <a:ext cx="9981791" cy="215885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9FCC0DE-FEED-B895-8515-2F98903A754A}"/>
              </a:ext>
            </a:extLst>
          </p:cNvPr>
          <p:cNvSpPr/>
          <p:nvPr/>
        </p:nvSpPr>
        <p:spPr>
          <a:xfrm>
            <a:off x="1177530" y="4058145"/>
            <a:ext cx="1574722" cy="486696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698DF0-E0EA-2402-3093-B0A2761211B4}"/>
              </a:ext>
            </a:extLst>
          </p:cNvPr>
          <p:cNvSpPr/>
          <p:nvPr/>
        </p:nvSpPr>
        <p:spPr>
          <a:xfrm>
            <a:off x="-1" y="0"/>
            <a:ext cx="12204338" cy="113929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oogle Shape;88;p17">
            <a:extLst>
              <a:ext uri="{FF2B5EF4-FFF2-40B4-BE49-F238E27FC236}">
                <a16:creationId xmlns:a16="http://schemas.microsoft.com/office/drawing/2014/main" id="{6010DEFC-44E1-E3E8-5D56-59485354899F}"/>
              </a:ext>
            </a:extLst>
          </p:cNvPr>
          <p:cNvSpPr txBox="1">
            <a:spLocks/>
          </p:cNvSpPr>
          <p:nvPr/>
        </p:nvSpPr>
        <p:spPr>
          <a:xfrm>
            <a:off x="392739" y="264549"/>
            <a:ext cx="11197934" cy="80567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 Repo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ABE21F-88D7-CCD2-EC4A-415C00CEC18C}"/>
              </a:ext>
            </a:extLst>
          </p:cNvPr>
          <p:cNvSpPr txBox="1"/>
          <p:nvPr/>
        </p:nvSpPr>
        <p:spPr>
          <a:xfrm>
            <a:off x="1177530" y="5115121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4"/>
              </a:rPr>
              <a:t>https://github.com/xr2006/C2SMART_Learning_Hub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2644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EBE5375-FED0-B2A4-13C4-D144F23D0F7A}"/>
              </a:ext>
            </a:extLst>
          </p:cNvPr>
          <p:cNvSpPr/>
          <p:nvPr/>
        </p:nvSpPr>
        <p:spPr>
          <a:xfrm>
            <a:off x="-1" y="0"/>
            <a:ext cx="12204338" cy="113929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oogle Shape;88;p17">
            <a:extLst>
              <a:ext uri="{FF2B5EF4-FFF2-40B4-BE49-F238E27FC236}">
                <a16:creationId xmlns:a16="http://schemas.microsoft.com/office/drawing/2014/main" id="{CA39740E-6935-A2F2-50D5-690F9E707982}"/>
              </a:ext>
            </a:extLst>
          </p:cNvPr>
          <p:cNvSpPr txBox="1">
            <a:spLocks/>
          </p:cNvSpPr>
          <p:nvPr/>
        </p:nvSpPr>
        <p:spPr>
          <a:xfrm>
            <a:off x="392739" y="264549"/>
            <a:ext cx="11197934" cy="80567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1: Commute Choice Modeling</a:t>
            </a:r>
          </a:p>
        </p:txBody>
      </p:sp>
      <p:pic>
        <p:nvPicPr>
          <p:cNvPr id="10" name="图片 6">
            <a:extLst>
              <a:ext uri="{FF2B5EF4-FFF2-40B4-BE49-F238E27FC236}">
                <a16:creationId xmlns:a16="http://schemas.microsoft.com/office/drawing/2014/main" id="{BB640263-077E-8EB6-502D-81AA84671F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5" r="89955"/>
          <a:stretch/>
        </p:blipFill>
        <p:spPr>
          <a:xfrm>
            <a:off x="764448" y="2445660"/>
            <a:ext cx="372140" cy="39455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C5EBCA-AB3F-9659-814B-B9512D2ACC21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75" r="50000" b="1881"/>
          <a:stretch/>
        </p:blipFill>
        <p:spPr bwMode="auto">
          <a:xfrm>
            <a:off x="6523461" y="1403843"/>
            <a:ext cx="5221161" cy="521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图片 6">
            <a:extLst>
              <a:ext uri="{FF2B5EF4-FFF2-40B4-BE49-F238E27FC236}">
                <a16:creationId xmlns:a16="http://schemas.microsoft.com/office/drawing/2014/main" id="{10BA0349-59D0-EACD-77CE-1B9D43DC00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32" r="828"/>
          <a:stretch/>
        </p:blipFill>
        <p:spPr>
          <a:xfrm>
            <a:off x="1136588" y="2445660"/>
            <a:ext cx="4583670" cy="3945587"/>
          </a:xfrm>
          <a:prstGeom prst="rect">
            <a:avLst/>
          </a:prstGeom>
        </p:spPr>
      </p:pic>
      <p:cxnSp>
        <p:nvCxnSpPr>
          <p:cNvPr id="13" name="直接连接符 8">
            <a:extLst>
              <a:ext uri="{FF2B5EF4-FFF2-40B4-BE49-F238E27FC236}">
                <a16:creationId xmlns:a16="http://schemas.microsoft.com/office/drawing/2014/main" id="{059C34CE-AADD-B1E6-8624-26F00A52503E}"/>
              </a:ext>
            </a:extLst>
          </p:cNvPr>
          <p:cNvCxnSpPr>
            <a:cxnSpLocks/>
          </p:cNvCxnSpPr>
          <p:nvPr/>
        </p:nvCxnSpPr>
        <p:spPr>
          <a:xfrm>
            <a:off x="1139414" y="3094305"/>
            <a:ext cx="4538804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92">
            <a:extLst>
              <a:ext uri="{FF2B5EF4-FFF2-40B4-BE49-F238E27FC236}">
                <a16:creationId xmlns:a16="http://schemas.microsoft.com/office/drawing/2014/main" id="{FA2D3C97-97A7-5373-DACC-1B6A924D0F12}"/>
              </a:ext>
            </a:extLst>
          </p:cNvPr>
          <p:cNvSpPr/>
          <p:nvPr/>
        </p:nvSpPr>
        <p:spPr>
          <a:xfrm>
            <a:off x="223540" y="1438534"/>
            <a:ext cx="62257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phone data for 26,149 commuters’ activity chain on two weekdays (Shanghai, 2019)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E78759-239A-0F46-E4FB-0632DFAE1DEC}"/>
              </a:ext>
            </a:extLst>
          </p:cNvPr>
          <p:cNvSpPr txBox="1"/>
          <p:nvPr/>
        </p:nvSpPr>
        <p:spPr>
          <a:xfrm>
            <a:off x="11499540" y="6491235"/>
            <a:ext cx="599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BE56772-894B-D841-B1F7-F7D900972C7A}" type="slidenum">
              <a:rPr kumimoji="1" lang="zh-CN" altLang="en-US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15</a:t>
            </a:fld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422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EBE5375-FED0-B2A4-13C4-D144F23D0F7A}"/>
              </a:ext>
            </a:extLst>
          </p:cNvPr>
          <p:cNvSpPr/>
          <p:nvPr/>
        </p:nvSpPr>
        <p:spPr>
          <a:xfrm>
            <a:off x="-1" y="0"/>
            <a:ext cx="12204338" cy="113929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oogle Shape;88;p17">
            <a:extLst>
              <a:ext uri="{FF2B5EF4-FFF2-40B4-BE49-F238E27FC236}">
                <a16:creationId xmlns:a16="http://schemas.microsoft.com/office/drawing/2014/main" id="{CA39740E-6935-A2F2-50D5-690F9E707982}"/>
              </a:ext>
            </a:extLst>
          </p:cNvPr>
          <p:cNvSpPr txBox="1">
            <a:spLocks/>
          </p:cNvSpPr>
          <p:nvPr/>
        </p:nvSpPr>
        <p:spPr>
          <a:xfrm>
            <a:off x="392739" y="264549"/>
            <a:ext cx="11197934" cy="80567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1: Commute Choice Modeling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E78759-239A-0F46-E4FB-0632DFAE1DEC}"/>
              </a:ext>
            </a:extLst>
          </p:cNvPr>
          <p:cNvSpPr txBox="1"/>
          <p:nvPr/>
        </p:nvSpPr>
        <p:spPr>
          <a:xfrm>
            <a:off x="11499540" y="6491235"/>
            <a:ext cx="599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BE56772-894B-D841-B1F7-F7D900972C7A}" type="slidenum">
              <a:rPr kumimoji="1" lang="zh-CN" altLang="en-US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16</a:t>
            </a:fld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screenshot of a schedule&#10;&#10;Description automatically generated">
            <a:extLst>
              <a:ext uri="{FF2B5EF4-FFF2-40B4-BE49-F238E27FC236}">
                <a16:creationId xmlns:a16="http://schemas.microsoft.com/office/drawing/2014/main" id="{EA388165-8D66-EF12-8DAA-6003B42FD5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739" y="2739296"/>
            <a:ext cx="7365424" cy="27471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D5E09A-EC10-FB9E-F708-3458374ECFA7}"/>
              </a:ext>
            </a:extLst>
          </p:cNvPr>
          <p:cNvSpPr txBox="1"/>
          <p:nvPr/>
        </p:nvSpPr>
        <p:spPr>
          <a:xfrm>
            <a:off x="10027403" y="379708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4BED17DC-23BC-CBE5-4841-C8910CECBA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071" y="1920520"/>
            <a:ext cx="3538663" cy="4326169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505F63A9-F1EF-1A9B-6B0F-E5613FA8FB77}"/>
              </a:ext>
            </a:extLst>
          </p:cNvPr>
          <p:cNvSpPr/>
          <p:nvPr/>
        </p:nvSpPr>
        <p:spPr>
          <a:xfrm>
            <a:off x="423735" y="2739296"/>
            <a:ext cx="2303966" cy="229765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C7F1A26-FD9D-5863-B3D8-96E5B25FBEB1}"/>
              </a:ext>
            </a:extLst>
          </p:cNvPr>
          <p:cNvSpPr/>
          <p:nvPr/>
        </p:nvSpPr>
        <p:spPr>
          <a:xfrm>
            <a:off x="9286707" y="4410963"/>
            <a:ext cx="2212833" cy="1275461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91086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EBE5375-FED0-B2A4-13C4-D144F23D0F7A}"/>
              </a:ext>
            </a:extLst>
          </p:cNvPr>
          <p:cNvSpPr/>
          <p:nvPr/>
        </p:nvSpPr>
        <p:spPr>
          <a:xfrm>
            <a:off x="-1" y="0"/>
            <a:ext cx="12204338" cy="113929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oogle Shape;88;p17">
            <a:extLst>
              <a:ext uri="{FF2B5EF4-FFF2-40B4-BE49-F238E27FC236}">
                <a16:creationId xmlns:a16="http://schemas.microsoft.com/office/drawing/2014/main" id="{CA39740E-6935-A2F2-50D5-690F9E707982}"/>
              </a:ext>
            </a:extLst>
          </p:cNvPr>
          <p:cNvSpPr txBox="1">
            <a:spLocks/>
          </p:cNvSpPr>
          <p:nvPr/>
        </p:nvSpPr>
        <p:spPr>
          <a:xfrm>
            <a:off x="392739" y="264549"/>
            <a:ext cx="11197934" cy="80567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1: Commute Choice Modeling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E78759-239A-0F46-E4FB-0632DFAE1DEC}"/>
              </a:ext>
            </a:extLst>
          </p:cNvPr>
          <p:cNvSpPr txBox="1"/>
          <p:nvPr/>
        </p:nvSpPr>
        <p:spPr>
          <a:xfrm>
            <a:off x="11499540" y="6491235"/>
            <a:ext cx="599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BE56772-894B-D841-B1F7-F7D900972C7A}" type="slidenum">
              <a:rPr kumimoji="1" lang="zh-CN" altLang="en-US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17</a:t>
            </a:fld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矩形 24">
            <a:extLst>
              <a:ext uri="{FF2B5EF4-FFF2-40B4-BE49-F238E27FC236}">
                <a16:creationId xmlns:a16="http://schemas.microsoft.com/office/drawing/2014/main" id="{35BE9605-A97D-A6D3-21D2-A4E41CA05B20}"/>
              </a:ext>
            </a:extLst>
          </p:cNvPr>
          <p:cNvSpPr/>
          <p:nvPr/>
        </p:nvSpPr>
        <p:spPr>
          <a:xfrm>
            <a:off x="2737557" y="3082379"/>
            <a:ext cx="686567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 b="1" dirty="0"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Code</a:t>
            </a:r>
            <a:endParaRPr lang="zh-CN" altLang="en-US" sz="4400" b="1" dirty="0"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08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EBE5375-FED0-B2A4-13C4-D144F23D0F7A}"/>
              </a:ext>
            </a:extLst>
          </p:cNvPr>
          <p:cNvSpPr/>
          <p:nvPr/>
        </p:nvSpPr>
        <p:spPr>
          <a:xfrm>
            <a:off x="-1" y="0"/>
            <a:ext cx="12204338" cy="113929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oogle Shape;88;p17">
            <a:extLst>
              <a:ext uri="{FF2B5EF4-FFF2-40B4-BE49-F238E27FC236}">
                <a16:creationId xmlns:a16="http://schemas.microsoft.com/office/drawing/2014/main" id="{CA39740E-6935-A2F2-50D5-690F9E707982}"/>
              </a:ext>
            </a:extLst>
          </p:cNvPr>
          <p:cNvSpPr txBox="1">
            <a:spLocks/>
          </p:cNvSpPr>
          <p:nvPr/>
        </p:nvSpPr>
        <p:spPr>
          <a:xfrm>
            <a:off x="392739" y="264549"/>
            <a:ext cx="11197934" cy="80567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2: NYS Mode Choice Modeling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D87AF5-2328-3014-CFD8-2A5B34AD9A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22"/>
          <a:stretch/>
        </p:blipFill>
        <p:spPr>
          <a:xfrm>
            <a:off x="5202890" y="4081805"/>
            <a:ext cx="6438900" cy="21931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F29880-333B-57C2-1579-B0488B4EB0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045" y="2133600"/>
            <a:ext cx="7658100" cy="1295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7A7C6F-F868-84EC-61B1-0E1E8E8957D4}"/>
              </a:ext>
            </a:extLst>
          </p:cNvPr>
          <p:cNvSpPr txBox="1"/>
          <p:nvPr/>
        </p:nvSpPr>
        <p:spPr>
          <a:xfrm>
            <a:off x="403411" y="1586753"/>
            <a:ext cx="3563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Market level data</a:t>
            </a:r>
            <a:endParaRPr kumimoji="1" lang="zh-CN" alt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D7C9EE-044A-8C44-E6CF-D9426BBF6F7A}"/>
              </a:ext>
            </a:extLst>
          </p:cNvPr>
          <p:cNvSpPr/>
          <p:nvPr/>
        </p:nvSpPr>
        <p:spPr>
          <a:xfrm>
            <a:off x="465045" y="2411191"/>
            <a:ext cx="7658100" cy="210985"/>
          </a:xfrm>
          <a:prstGeom prst="rect">
            <a:avLst/>
          </a:prstGeom>
          <a:noFill/>
          <a:ln w="25400">
            <a:solidFill>
              <a:srgbClr val="C6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09A575-D0F9-64A8-3795-EE1C0DCF6212}"/>
              </a:ext>
            </a:extLst>
          </p:cNvPr>
          <p:cNvSpPr/>
          <p:nvPr/>
        </p:nvSpPr>
        <p:spPr>
          <a:xfrm>
            <a:off x="5229784" y="4358154"/>
            <a:ext cx="6409766" cy="1190596"/>
          </a:xfrm>
          <a:prstGeom prst="rect">
            <a:avLst/>
          </a:prstGeom>
          <a:noFill/>
          <a:ln w="25400">
            <a:solidFill>
              <a:srgbClr val="C6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BC6B8F36-533E-00E0-01A7-AFF5229D0DF0}"/>
              </a:ext>
            </a:extLst>
          </p:cNvPr>
          <p:cNvCxnSpPr>
            <a:endCxn id="6" idx="1"/>
          </p:cNvCxnSpPr>
          <p:nvPr/>
        </p:nvCxnSpPr>
        <p:spPr>
          <a:xfrm rot="16200000" flipH="1">
            <a:off x="3298225" y="3021892"/>
            <a:ext cx="2317829" cy="1545290"/>
          </a:xfrm>
          <a:prstGeom prst="bentConnector2">
            <a:avLst/>
          </a:prstGeom>
          <a:ln w="25400">
            <a:solidFill>
              <a:srgbClr val="C65A11"/>
            </a:solidFill>
            <a:headEnd type="triangle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813B3C4-F653-7DD6-F7DA-BF77130CAC67}"/>
              </a:ext>
            </a:extLst>
          </p:cNvPr>
          <p:cNvSpPr txBox="1"/>
          <p:nvPr/>
        </p:nvSpPr>
        <p:spPr>
          <a:xfrm>
            <a:off x="5180481" y="3614016"/>
            <a:ext cx="3563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Individual level data</a:t>
            </a:r>
            <a:endParaRPr kumimoji="1" lang="zh-CN" alt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076DB9-0185-A5D0-4490-D22FB385C4F6}"/>
              </a:ext>
            </a:extLst>
          </p:cNvPr>
          <p:cNvSpPr txBox="1"/>
          <p:nvPr/>
        </p:nvSpPr>
        <p:spPr>
          <a:xfrm>
            <a:off x="2576132" y="3920457"/>
            <a:ext cx="17179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solidFill>
                  <a:srgbClr val="C65A11"/>
                </a:solidFill>
              </a:rPr>
              <a:t>aggregate</a:t>
            </a:r>
            <a:endParaRPr kumimoji="1" lang="zh-CN" altLang="en-US" sz="1600" dirty="0">
              <a:solidFill>
                <a:srgbClr val="C65A1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A9C6C0-E28B-6A55-AABE-09FF1DB19066}"/>
              </a:ext>
            </a:extLst>
          </p:cNvPr>
          <p:cNvSpPr txBox="1"/>
          <p:nvPr/>
        </p:nvSpPr>
        <p:spPr>
          <a:xfrm>
            <a:off x="-132536" y="5178362"/>
            <a:ext cx="5301708" cy="124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kumimoji="1" lang="en-US" sz="1600" dirty="0"/>
              <a:t>If we only have observed travel time &amp; cost for the chosen alternative (not for all alternatives), and the dataset is large enough, we can aggregate the data and build a market-level model.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5E2EAC-1E57-BC64-E564-E0B364714D60}"/>
              </a:ext>
            </a:extLst>
          </p:cNvPr>
          <p:cNvSpPr txBox="1"/>
          <p:nvPr/>
        </p:nvSpPr>
        <p:spPr>
          <a:xfrm>
            <a:off x="11499540" y="6491235"/>
            <a:ext cx="599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BE56772-894B-D841-B1F7-F7D900972C7A}" type="slidenum">
              <a:rPr kumimoji="1" lang="zh-CN" altLang="en-US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18</a:t>
            </a:fld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896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EBE5375-FED0-B2A4-13C4-D144F23D0F7A}"/>
              </a:ext>
            </a:extLst>
          </p:cNvPr>
          <p:cNvSpPr/>
          <p:nvPr/>
        </p:nvSpPr>
        <p:spPr>
          <a:xfrm>
            <a:off x="-1" y="0"/>
            <a:ext cx="12204338" cy="113929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oogle Shape;88;p17">
            <a:extLst>
              <a:ext uri="{FF2B5EF4-FFF2-40B4-BE49-F238E27FC236}">
                <a16:creationId xmlns:a16="http://schemas.microsoft.com/office/drawing/2014/main" id="{CA39740E-6935-A2F2-50D5-690F9E707982}"/>
              </a:ext>
            </a:extLst>
          </p:cNvPr>
          <p:cNvSpPr txBox="1">
            <a:spLocks/>
          </p:cNvSpPr>
          <p:nvPr/>
        </p:nvSpPr>
        <p:spPr>
          <a:xfrm>
            <a:off x="392739" y="264549"/>
            <a:ext cx="11197934" cy="80567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2: NYS Mode Choice Modeling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5E2EAC-1E57-BC64-E564-E0B364714D60}"/>
              </a:ext>
            </a:extLst>
          </p:cNvPr>
          <p:cNvSpPr txBox="1"/>
          <p:nvPr/>
        </p:nvSpPr>
        <p:spPr>
          <a:xfrm>
            <a:off x="11499540" y="6491235"/>
            <a:ext cx="599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BE56772-894B-D841-B1F7-F7D900972C7A}" type="slidenum">
              <a:rPr kumimoji="1" lang="zh-CN" altLang="en-US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19</a:t>
            </a:fld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 descr="Scatter chart&#10;&#10;Description automatically generated">
            <a:extLst>
              <a:ext uri="{FF2B5EF4-FFF2-40B4-BE49-F238E27FC236}">
                <a16:creationId xmlns:a16="http://schemas.microsoft.com/office/drawing/2014/main" id="{7CB88DA7-5A1F-4F71-FCC9-3BEBE88B9C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183" y="1497268"/>
            <a:ext cx="6011963" cy="50273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778BAD-A77A-3C94-0259-EBFAA55707EE}"/>
              </a:ext>
            </a:extLst>
          </p:cNvPr>
          <p:cNvSpPr txBox="1"/>
          <p:nvPr/>
        </p:nvSpPr>
        <p:spPr>
          <a:xfrm>
            <a:off x="316304" y="1497268"/>
            <a:ext cx="5392663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1600" b="1" dirty="0"/>
              <a:t>Block-group OD level mode share data from Replica’s synthetic population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/>
              <a:t>120,740 markets </a:t>
            </a:r>
            <a:r>
              <a:rPr lang="en-US" altLang="zh-CN" sz="1600" dirty="0"/>
              <a:t>(block-group OD pair * segment)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/>
              <a:t>Six modes: </a:t>
            </a:r>
            <a:r>
              <a:rPr lang="en-US" altLang="zh-CN" sz="1600" dirty="0"/>
              <a:t>driving, public transit, on-demand auto, biking, walking, carpool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/>
              <a:t>Twelve mode attributes: </a:t>
            </a:r>
            <a:r>
              <a:rPr lang="en-US" altLang="zh-CN" sz="1600" dirty="0"/>
              <a:t>auto travel time, transit access time, transit egress time, transit in-vehicle time, number of transfer, non-vehicle travel time, cost, five mode specific constants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B6FCC63-3262-0FA4-04BF-380912F1F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04" y="4257830"/>
            <a:ext cx="5117821" cy="226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136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FC0F3B2-A2C0-3EA1-750E-5C37CC0CC05D}"/>
              </a:ext>
            </a:extLst>
          </p:cNvPr>
          <p:cNvSpPr/>
          <p:nvPr/>
        </p:nvSpPr>
        <p:spPr>
          <a:xfrm>
            <a:off x="-1" y="0"/>
            <a:ext cx="12204338" cy="113929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Google Shape;88;p17">
            <a:extLst>
              <a:ext uri="{FF2B5EF4-FFF2-40B4-BE49-F238E27FC236}">
                <a16:creationId xmlns:a16="http://schemas.microsoft.com/office/drawing/2014/main" id="{9881DBDD-B2A2-E7E4-B026-1A1310A10F3B}"/>
              </a:ext>
            </a:extLst>
          </p:cNvPr>
          <p:cNvSpPr txBox="1">
            <a:spLocks/>
          </p:cNvSpPr>
          <p:nvPr/>
        </p:nvSpPr>
        <p:spPr>
          <a:xfrm>
            <a:off x="223540" y="264549"/>
            <a:ext cx="10993437" cy="80567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2: NYS Mode Choice Modeling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216DD8-CA62-D601-3C8C-900596E5FD86}"/>
              </a:ext>
            </a:extLst>
          </p:cNvPr>
          <p:cNvSpPr txBox="1"/>
          <p:nvPr/>
        </p:nvSpPr>
        <p:spPr>
          <a:xfrm>
            <a:off x="11499540" y="6491235"/>
            <a:ext cx="599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BE56772-894B-D841-B1F7-F7D900972C7A}" type="slidenum">
              <a:rPr kumimoji="1" lang="zh-CN" altLang="en-US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20</a:t>
            </a:fld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D0628B2-B9E9-524B-4A66-F393F6720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17" y="1403842"/>
            <a:ext cx="5488647" cy="51949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8748A1E-13D8-4E66-02DE-200325F3012E}"/>
                  </a:ext>
                </a:extLst>
              </p:cNvPr>
              <p:cNvSpPr txBox="1"/>
              <p:nvPr/>
            </p:nvSpPr>
            <p:spPr>
              <a:xfrm>
                <a:off x="6642618" y="2041902"/>
                <a:ext cx="481394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Market-level taste parameters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en-US" altLang="zh-C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Population-level taste parameters for cluster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C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8748A1E-13D8-4E66-02DE-200325F30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2618" y="2041902"/>
                <a:ext cx="4813946" cy="584775"/>
              </a:xfrm>
              <a:prstGeom prst="rect">
                <a:avLst/>
              </a:prstGeom>
              <a:blipFill>
                <a:blip r:embed="rId4"/>
                <a:stretch>
                  <a:fillRect t="-2128" b="-148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553A5C-CE82-BA64-0525-B2D1CE212AC2}"/>
                  </a:ext>
                </a:extLst>
              </p:cNvPr>
              <p:cNvSpPr txBox="1"/>
              <p:nvPr/>
            </p:nvSpPr>
            <p:spPr>
              <a:xfrm>
                <a:off x="6642618" y="3198647"/>
                <a:ext cx="5195300" cy="870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𝑗𝑡</m:t>
                        </m:r>
                      </m:sub>
                    </m:sSub>
                  </m:oMath>
                </a14:m>
                <a:r>
                  <a:rPr lang="en-US" altLang="zh-C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Attributes of alternative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market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zh-CN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𝑗𝑡</m:t>
                        </m:r>
                      </m:sub>
                    </m:sSub>
                  </m:oMath>
                </a14:m>
                <a:r>
                  <a:rPr lang="en-US" altLang="zh-C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Observed market share of alternative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market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zh-CN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tol</a:t>
                </a:r>
                <a:r>
                  <a:rPr lang="en-US" altLang="zh-C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 hyperparameter to balance feasibility and accuracy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553A5C-CE82-BA64-0525-B2D1CE212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2618" y="3198647"/>
                <a:ext cx="5195300" cy="870623"/>
              </a:xfrm>
              <a:prstGeom prst="rect">
                <a:avLst/>
              </a:prstGeom>
              <a:blipFill>
                <a:blip r:embed="rId5"/>
                <a:stretch>
                  <a:fillRect l="-732" t="-2899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1CBE9C4-DBFD-C70B-0FA4-148408BCE17E}"/>
              </a:ext>
            </a:extLst>
          </p:cNvPr>
          <p:cNvSpPr txBox="1"/>
          <p:nvPr/>
        </p:nvSpPr>
        <p:spPr>
          <a:xfrm>
            <a:off x="6642618" y="1672570"/>
            <a:ext cx="4813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solidFill>
                  <a:srgbClr val="C65A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Market-specific parameters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9535BA-AD8B-5C5C-978A-F06A00412C2E}"/>
              </a:ext>
            </a:extLst>
          </p:cNvPr>
          <p:cNvSpPr txBox="1"/>
          <p:nvPr/>
        </p:nvSpPr>
        <p:spPr>
          <a:xfrm>
            <a:off x="6642618" y="2887720"/>
            <a:ext cx="4813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solidFill>
                  <a:srgbClr val="C65A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Inverted market share constraints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340DF5-34B3-A15A-63CA-EC59CB564992}"/>
              </a:ext>
            </a:extLst>
          </p:cNvPr>
          <p:cNvSpPr txBox="1"/>
          <p:nvPr/>
        </p:nvSpPr>
        <p:spPr>
          <a:xfrm>
            <a:off x="6642618" y="5017148"/>
            <a:ext cx="4813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solidFill>
                  <a:srgbClr val="C65A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Parameter boundary and cluster indicator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EDAF828-A6C5-5F93-8271-FBF0ACED462F}"/>
                  </a:ext>
                </a:extLst>
              </p:cNvPr>
              <p:cNvSpPr txBox="1"/>
              <p:nvPr/>
            </p:nvSpPr>
            <p:spPr>
              <a:xfrm>
                <a:off x="6642618" y="5399195"/>
                <a:ext cx="51953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 vector of lower parameter bounds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 vector of upper parameter bounds (e.g., </a:t>
                </a:r>
                <a:r>
                  <a:rPr lang="en-US" altLang="zh-CN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theta_price</a:t>
                </a:r>
                <a:r>
                  <a:rPr lang="en-US" altLang="zh-C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&lt;0)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𝑡𝑚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Indicates whether market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altLang="zh-C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belongs to cluster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endParaRPr lang="en-US" altLang="zh-CN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EDAF828-A6C5-5F93-8271-FBF0ACED4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2618" y="5399195"/>
                <a:ext cx="5195300" cy="830997"/>
              </a:xfrm>
              <a:prstGeom prst="rect">
                <a:avLst/>
              </a:prstGeom>
              <a:blipFill>
                <a:blip r:embed="rId6"/>
                <a:stretch>
                  <a:fillRect t="-3030" r="-1707"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F5B53DF6-4E73-80C6-7291-E71A54B1AD84}"/>
              </a:ext>
            </a:extLst>
          </p:cNvPr>
          <p:cNvSpPr txBox="1"/>
          <p:nvPr/>
        </p:nvSpPr>
        <p:spPr>
          <a:xfrm>
            <a:off x="9825965" y="4227971"/>
            <a:ext cx="21302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BLP formulation</a:t>
            </a:r>
            <a:endParaRPr lang="zh-CN" altLang="en-US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B1B0B3-41C1-E261-E1F5-D6237B1E9DEF}"/>
              </a:ext>
            </a:extLst>
          </p:cNvPr>
          <p:cNvSpPr/>
          <p:nvPr/>
        </p:nvSpPr>
        <p:spPr>
          <a:xfrm>
            <a:off x="1150800" y="5671037"/>
            <a:ext cx="389911" cy="278879"/>
          </a:xfrm>
          <a:prstGeom prst="rect">
            <a:avLst/>
          </a:prstGeom>
          <a:noFill/>
          <a:ln w="19050">
            <a:solidFill>
              <a:srgbClr val="C6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Connector: Elbow 32">
            <a:extLst>
              <a:ext uri="{FF2B5EF4-FFF2-40B4-BE49-F238E27FC236}">
                <a16:creationId xmlns:a16="http://schemas.microsoft.com/office/drawing/2014/main" id="{22E96396-3399-9DAF-A22E-CE8DBC31008E}"/>
              </a:ext>
            </a:extLst>
          </p:cNvPr>
          <p:cNvCxnSpPr>
            <a:cxnSpLocks/>
            <a:stCxn id="18" idx="3"/>
            <a:endCxn id="11" idx="1"/>
          </p:cNvCxnSpPr>
          <p:nvPr/>
        </p:nvCxnSpPr>
        <p:spPr>
          <a:xfrm>
            <a:off x="1523172" y="4361450"/>
            <a:ext cx="5119446" cy="1453244"/>
          </a:xfrm>
          <a:prstGeom prst="bentConnector3">
            <a:avLst>
              <a:gd name="adj1" fmla="val 50000"/>
            </a:avLst>
          </a:prstGeom>
          <a:ln w="19050">
            <a:solidFill>
              <a:srgbClr val="C65A1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68819C9-B93F-34A4-1BAC-3D713C56324E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540711" y="5810477"/>
            <a:ext cx="2469921" cy="0"/>
          </a:xfrm>
          <a:prstGeom prst="straightConnector1">
            <a:avLst/>
          </a:prstGeom>
          <a:ln w="19050">
            <a:solidFill>
              <a:srgbClr val="C65A1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5ADBA9C8-238E-2E2A-D169-1B18F6C09262}"/>
              </a:ext>
            </a:extLst>
          </p:cNvPr>
          <p:cNvSpPr/>
          <p:nvPr/>
        </p:nvSpPr>
        <p:spPr>
          <a:xfrm>
            <a:off x="1168385" y="4027807"/>
            <a:ext cx="354787" cy="667285"/>
          </a:xfrm>
          <a:prstGeom prst="rect">
            <a:avLst/>
          </a:prstGeom>
          <a:noFill/>
          <a:ln w="19050">
            <a:solidFill>
              <a:srgbClr val="C6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6954C2-4D07-4C82-ABBF-B1F98D12C720}"/>
              </a:ext>
            </a:extLst>
          </p:cNvPr>
          <p:cNvSpPr/>
          <p:nvPr/>
        </p:nvSpPr>
        <p:spPr>
          <a:xfrm>
            <a:off x="796013" y="2626677"/>
            <a:ext cx="2654160" cy="1319275"/>
          </a:xfrm>
          <a:prstGeom prst="rect">
            <a:avLst/>
          </a:prstGeom>
          <a:noFill/>
          <a:ln w="19050">
            <a:solidFill>
              <a:srgbClr val="C6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Connector: Elbow 32">
            <a:extLst>
              <a:ext uri="{FF2B5EF4-FFF2-40B4-BE49-F238E27FC236}">
                <a16:creationId xmlns:a16="http://schemas.microsoft.com/office/drawing/2014/main" id="{D02D27B0-9C0F-3D74-0D0E-FEF62A7AC0D3}"/>
              </a:ext>
            </a:extLst>
          </p:cNvPr>
          <p:cNvCxnSpPr>
            <a:cxnSpLocks/>
            <a:stCxn id="24" idx="3"/>
            <a:endCxn id="5" idx="1"/>
          </p:cNvCxnSpPr>
          <p:nvPr/>
        </p:nvCxnSpPr>
        <p:spPr>
          <a:xfrm>
            <a:off x="3450173" y="3286315"/>
            <a:ext cx="3192445" cy="347644"/>
          </a:xfrm>
          <a:prstGeom prst="bentConnector3">
            <a:avLst>
              <a:gd name="adj1" fmla="val 50000"/>
            </a:avLst>
          </a:prstGeom>
          <a:ln w="19050">
            <a:solidFill>
              <a:srgbClr val="C65A1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037DEABC-5949-1989-AE0C-5C2042048753}"/>
              </a:ext>
            </a:extLst>
          </p:cNvPr>
          <p:cNvSpPr/>
          <p:nvPr/>
        </p:nvSpPr>
        <p:spPr>
          <a:xfrm>
            <a:off x="2270042" y="1642112"/>
            <a:ext cx="286728" cy="337610"/>
          </a:xfrm>
          <a:prstGeom prst="rect">
            <a:avLst/>
          </a:prstGeom>
          <a:noFill/>
          <a:ln w="19050">
            <a:solidFill>
              <a:srgbClr val="C6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53A37E5-5DA0-998B-2889-904BB1163598}"/>
              </a:ext>
            </a:extLst>
          </p:cNvPr>
          <p:cNvSpPr/>
          <p:nvPr/>
        </p:nvSpPr>
        <p:spPr>
          <a:xfrm>
            <a:off x="2722803" y="1642112"/>
            <a:ext cx="286728" cy="337610"/>
          </a:xfrm>
          <a:prstGeom prst="rect">
            <a:avLst/>
          </a:prstGeom>
          <a:noFill/>
          <a:ln w="19050">
            <a:solidFill>
              <a:srgbClr val="C6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Connector: Elbow 32">
            <a:extLst>
              <a:ext uri="{FF2B5EF4-FFF2-40B4-BE49-F238E27FC236}">
                <a16:creationId xmlns:a16="http://schemas.microsoft.com/office/drawing/2014/main" id="{534FAE09-F1B7-1A13-788E-22BF1E915657}"/>
              </a:ext>
            </a:extLst>
          </p:cNvPr>
          <p:cNvCxnSpPr>
            <a:cxnSpLocks/>
            <a:stCxn id="31" idx="3"/>
            <a:endCxn id="3" idx="1"/>
          </p:cNvCxnSpPr>
          <p:nvPr/>
        </p:nvCxnSpPr>
        <p:spPr>
          <a:xfrm>
            <a:off x="3009531" y="1810917"/>
            <a:ext cx="3633087" cy="523373"/>
          </a:xfrm>
          <a:prstGeom prst="bentConnector3">
            <a:avLst>
              <a:gd name="adj1" fmla="val 50000"/>
            </a:avLst>
          </a:prstGeom>
          <a:ln w="19050">
            <a:solidFill>
              <a:srgbClr val="C65A1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34B116C2-8BC0-22A8-CB3E-2A2FC54A13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2618" y="4069270"/>
            <a:ext cx="3025361" cy="62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854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24">
            <a:extLst>
              <a:ext uri="{FF2B5EF4-FFF2-40B4-BE49-F238E27FC236}">
                <a16:creationId xmlns:a16="http://schemas.microsoft.com/office/drawing/2014/main" id="{D4447BDF-80D0-6AAC-13BF-B1344E728B5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970" t="19425" r="18442" b="26309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4B2DA88-E5E2-0A16-45D5-8E9E70156A73}"/>
              </a:ext>
            </a:extLst>
          </p:cNvPr>
          <p:cNvSpPr/>
          <p:nvPr/>
        </p:nvSpPr>
        <p:spPr>
          <a:xfrm>
            <a:off x="0" y="0"/>
            <a:ext cx="12211888" cy="6858000"/>
          </a:xfrm>
          <a:prstGeom prst="rect">
            <a:avLst/>
          </a:prstGeom>
          <a:solidFill>
            <a:schemeClr val="accent5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5D93C6-18E3-C027-DAF4-0C2BC8F5720B}"/>
              </a:ext>
            </a:extLst>
          </p:cNvPr>
          <p:cNvSpPr/>
          <p:nvPr/>
        </p:nvSpPr>
        <p:spPr>
          <a:xfrm rot="16200000">
            <a:off x="6075457" y="-856177"/>
            <a:ext cx="45719" cy="57490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8DB0FC-EFFC-5F3B-06D6-2773DE077ACC}"/>
              </a:ext>
            </a:extLst>
          </p:cNvPr>
          <p:cNvSpPr/>
          <p:nvPr/>
        </p:nvSpPr>
        <p:spPr>
          <a:xfrm rot="16200000">
            <a:off x="6016651" y="1626695"/>
            <a:ext cx="163327" cy="57490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x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F59F9D-B647-E8B1-054D-ECFD2FB49B66}"/>
              </a:ext>
            </a:extLst>
          </p:cNvPr>
          <p:cNvSpPr txBox="1"/>
          <p:nvPr/>
        </p:nvSpPr>
        <p:spPr>
          <a:xfrm>
            <a:off x="550863" y="2458134"/>
            <a:ext cx="11161711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Thank</a:t>
            </a:r>
            <a:r>
              <a:rPr lang="zh-CN" altLang="en-US" sz="36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you</a:t>
            </a:r>
            <a:r>
              <a:rPr lang="zh-CN" altLang="en-US" sz="36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for</a:t>
            </a:r>
            <a:r>
              <a:rPr lang="zh-CN" altLang="en-US" sz="36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listening!</a:t>
            </a:r>
            <a:r>
              <a:rPr lang="zh-CN" altLang="en-US" sz="36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endParaRPr lang="zh-CN" altLang="en-US" sz="36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923B6961-CBF6-1CA1-17D3-F885E7966A49}"/>
              </a:ext>
            </a:extLst>
          </p:cNvPr>
          <p:cNvSpPr txBox="1"/>
          <p:nvPr/>
        </p:nvSpPr>
        <p:spPr>
          <a:xfrm>
            <a:off x="539730" y="4781177"/>
            <a:ext cx="1118874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i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Free free to contact me: xr2006@nyu.edu</a:t>
            </a:r>
            <a:endParaRPr kumimoji="1" lang="zh-CN" altLang="en-US" sz="2000" i="1" dirty="0">
              <a:solidFill>
                <a:schemeClr val="bg1"/>
              </a:solidFill>
              <a:effectLst/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9F0694-8ACB-AA5F-B659-7700EF4F42FA}"/>
              </a:ext>
            </a:extLst>
          </p:cNvPr>
          <p:cNvSpPr txBox="1"/>
          <p:nvPr/>
        </p:nvSpPr>
        <p:spPr>
          <a:xfrm>
            <a:off x="12685222" y="5486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000891-00BA-DDAC-EC28-3FBEB23C4483}"/>
              </a:ext>
            </a:extLst>
          </p:cNvPr>
          <p:cNvSpPr txBox="1"/>
          <p:nvPr/>
        </p:nvSpPr>
        <p:spPr>
          <a:xfrm>
            <a:off x="550863" y="3362057"/>
            <a:ext cx="11161711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 &amp; A</a:t>
            </a:r>
            <a:endParaRPr lang="zh-CN" altLang="en-US" sz="48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087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68321</TotalTime>
  <Words>1177</Words>
  <Application>Microsoft Macintosh PowerPoint</Application>
  <PresentationFormat>Widescreen</PresentationFormat>
  <Paragraphs>151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Almaden Sans</vt:lpstr>
      <vt:lpstr>等线</vt:lpstr>
      <vt:lpstr>微软雅黑</vt:lpstr>
      <vt:lpstr>Arial</vt:lpstr>
      <vt:lpstr>Arial Black</vt:lpstr>
      <vt:lpstr>Cambria Math</vt:lpstr>
      <vt:lpstr>Times New Roman</vt:lpstr>
      <vt:lpstr>1_Office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RenXiyuan</cp:lastModifiedBy>
  <cp:revision>2576</cp:revision>
  <dcterms:created xsi:type="dcterms:W3CDTF">2016-06-27T08:00:17Z</dcterms:created>
  <dcterms:modified xsi:type="dcterms:W3CDTF">2025-07-03T15:34:36Z</dcterms:modified>
</cp:coreProperties>
</file>